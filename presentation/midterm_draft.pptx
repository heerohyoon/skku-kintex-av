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[팀 이름]입니다. 저희는 성균관대 자연과학캠퍼스에서 일산 킨텍스까지 가는 59.4km 실제 경로를 자율주행 환경으로 만듭니다. 핵심은 출구를 놓치면 목적지에 도착할 수 없는 도로라는 점입니다. 핵심 구간 두 곳을 먼저 완성하고 두 곳으로 확장하며, 역할은 오른쪽과 같습니다. (약 20초)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도로의 핵심은 차선변경이 선택이 아니라 의무라는 점입니다. 출구까지 남은 거리 안에 목표 차선으로 못 들어가면 경로를 이탈합니다. 합류, 차로 감소, 신호 교차로 같은 상호작용이 한 경로에 모여 있고, 높이 3m 제한 지하도로처럼 이 도로만의 조건도 있습니다. 구간 2를 실측해 보니 약 450m마다 결정 지점이 나왔고, 이 길은 실제 박람회 견학 경로이기도 합니다. (약 35초)</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60km를 통째로 학습하면 충돌률 기준을 맞추기 어려워 구간으로 나눴습니다. 핵심은 지상·지하 갈림길과 차로 감소가 있는 구간 2, 출구와 신호, 실제 목적지가 있는 구간 4이고, 학교 앞과 한강 구간으로 확장합니다. 실제 지도를 SUMO로 변환해 로드뷰로 보정하며, 구간 2는 이미 변환해 경로 차량 150대가 모두 완주했습니다. (약 35초)</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중요한 상호작용은 분기와 출구입니다. 직진 차량 사이로 출구 차선에 제때 들어가야 하고, 늦으면 경로를 이탈합니다. 그 밖에 합류 차량과 본선 차량, 4차선이 지하 2차선과 지상 2차선으로 갈리는 차로 감소, 신호 교차로, 다중 차선 추월이 있습니다. 지금 기본 관측에는 경로 정보가 없어서, 결정 지점까지 거리와 지금 차선이 경로로 이어지는지, 신호 상태를 관측에 추가할 계획입니다. (약 40초)</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데이터는 조교님이 제시한 기본 항목 19개를 그대로 모두 저장합니다. 절대 상태로 AV와 모든 차량의 위치, 속도, 차선이 들어갑니다. 추가 항목은 평가 기준을 증명하는 것만 골랐습니다. 경로 이탈 여부, 결정 지점까지 거리, 경로로 이어지는 차선인지, 연속 정지 시간, 주변 차량 수입니다. 에피소드마다 교통량과 정책, 결과를 함께 남기고, 조건을 바꿔 가며 1,000만 개 이상 모아 허깅페이스에 올리겠습니다. 감사합니다. (약 40초)</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2328"/>
        </a:solidFill>
        <a:effectLst/>
      </p:bgPr>
    </p:bg>
    <p:spTree>
      <p:nvGrpSpPr>
        <p:cNvPr id="1" name=""/>
        <p:cNvGrpSpPr/>
        <p:nvPr/>
      </p:nvGrpSpPr>
      <p:grpSpPr/>
      <p:sp>
        <p:nvSpPr>
          <p:cNvPr id="2" name="TextBox 1"/>
          <p:cNvSpPr txBox="1"/>
          <p:nvPr/>
        </p:nvSpPr>
        <p:spPr>
          <a:xfrm>
            <a:off x="640080" y="685800"/>
            <a:ext cx="6583680" cy="365760"/>
          </a:xfrm>
          <a:prstGeom prst="rect">
            <a:avLst/>
          </a:prstGeom>
          <a:noFill/>
        </p:spPr>
        <p:txBody>
          <a:bodyPr wrap="square" anchor="t" lIns="0" rIns="0" tIns="0" bIns="0">
            <a:spAutoFit/>
          </a:bodyPr>
          <a:lstStyle/>
          <a:p>
            <a:pPr algn="l"/>
            <a:r>
              <a:rPr sz="1500" b="0" i="0">
                <a:solidFill>
                  <a:srgbClr val="F2A900"/>
                </a:solidFill>
                <a:latin typeface="Apple SD Gothic Neo"/>
                <a:ea typeface="Apple SD Gothic Neo"/>
                <a:cs typeface="Apple SD Gothic Neo"/>
              </a:rPr>
              <a:t>자율주행 인공지능 및 제어  ·  중간발표</a:t>
            </a:r>
          </a:p>
        </p:txBody>
      </p:sp>
      <p:sp>
        <p:nvSpPr>
          <p:cNvPr id="3" name="TextBox 2"/>
          <p:cNvSpPr txBox="1"/>
          <p:nvPr/>
        </p:nvSpPr>
        <p:spPr>
          <a:xfrm>
            <a:off x="640080" y="1234440"/>
            <a:ext cx="6583680" cy="2103120"/>
          </a:xfrm>
          <a:prstGeom prst="rect">
            <a:avLst/>
          </a:prstGeom>
          <a:noFill/>
        </p:spPr>
        <p:txBody>
          <a:bodyPr wrap="square" anchor="t" lIns="0" rIns="0" tIns="0" bIns="0">
            <a:spAutoFit/>
          </a:bodyPr>
          <a:lstStyle/>
          <a:p>
            <a:pPr algn="l"/>
            <a:r>
              <a:rPr sz="4000" b="1" i="0">
                <a:solidFill>
                  <a:srgbClr val="FFFFFF"/>
                </a:solidFill>
                <a:latin typeface="Apple SD Gothic Neo"/>
                <a:ea typeface="Apple SD Gothic Neo"/>
                <a:cs typeface="Apple SD Gothic Neo"/>
              </a:rPr>
              <a:t>출구를 놓치면</a:t>
            </a:r>
          </a:p>
          <a:p>
            <a:pPr algn="l"/>
            <a:r>
              <a:rPr sz="4000" b="1" i="0">
                <a:solidFill>
                  <a:srgbClr val="FFFFFF"/>
                </a:solidFill>
                <a:latin typeface="Apple SD Gothic Neo"/>
                <a:ea typeface="Apple SD Gothic Neo"/>
                <a:cs typeface="Apple SD Gothic Neo"/>
              </a:rPr>
              <a:t>도착할 수 없는 길</a:t>
            </a:r>
          </a:p>
        </p:txBody>
      </p:sp>
      <p:sp>
        <p:nvSpPr>
          <p:cNvPr id="4" name="TextBox 3"/>
          <p:cNvSpPr txBox="1"/>
          <p:nvPr/>
        </p:nvSpPr>
        <p:spPr>
          <a:xfrm>
            <a:off x="640080" y="3246120"/>
            <a:ext cx="6400800" cy="914400"/>
          </a:xfrm>
          <a:prstGeom prst="rect">
            <a:avLst/>
          </a:prstGeom>
          <a:noFill/>
        </p:spPr>
        <p:txBody>
          <a:bodyPr wrap="square" anchor="t" lIns="0" rIns="0" tIns="0" bIns="0">
            <a:spAutoFit/>
          </a:bodyPr>
          <a:lstStyle/>
          <a:p>
            <a:pPr algn="l"/>
            <a:r>
              <a:rPr sz="1800" b="0" i="0">
                <a:solidFill>
                  <a:srgbClr val="C9D1D9"/>
                </a:solidFill>
                <a:latin typeface="Apple SD Gothic Neo"/>
                <a:ea typeface="Apple SD Gothic Neo"/>
                <a:cs typeface="Apple SD Gothic Neo"/>
              </a:rPr>
              <a:t>성균관대 자연과학캠퍼스  →  일산 킨텍스  ·  59.4 km</a:t>
            </a:r>
          </a:p>
        </p:txBody>
      </p:sp>
      <p:sp>
        <p:nvSpPr>
          <p:cNvPr id="5" name="TextBox 4"/>
          <p:cNvSpPr txBox="1"/>
          <p:nvPr/>
        </p:nvSpPr>
        <p:spPr>
          <a:xfrm>
            <a:off x="640080" y="4416552"/>
            <a:ext cx="1280160" cy="457200"/>
          </a:xfrm>
          <a:prstGeom prst="rect">
            <a:avLst/>
          </a:prstGeom>
          <a:noFill/>
        </p:spPr>
        <p:txBody>
          <a:bodyPr wrap="square" anchor="ctr" lIns="0" rIns="0" tIns="0" bIns="0">
            <a:spAutoFit/>
          </a:bodyPr>
          <a:lstStyle/>
          <a:p>
            <a:pPr algn="l"/>
            <a:r>
              <a:rPr sz="1500" b="1" i="0">
                <a:solidFill>
                  <a:srgbClr val="FFFFFF"/>
                </a:solidFill>
                <a:latin typeface="Apple SD Gothic Neo"/>
                <a:ea typeface="Apple SD Gothic Neo"/>
                <a:cs typeface="Apple SD Gothic Neo"/>
              </a:rPr>
              <a:t>수원</a:t>
            </a:r>
          </a:p>
        </p:txBody>
      </p:sp>
      <p:sp>
        <p:nvSpPr>
          <p:cNvPr id="6" name="badge_1"/>
          <p:cNvSpPr/>
          <p:nvPr/>
        </p:nvSpPr>
        <p:spPr>
          <a:xfrm>
            <a:off x="1508760" y="4434840"/>
            <a:ext cx="420624" cy="420624"/>
          </a:xfrm>
          <a:prstGeom prst="ellipse">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Apple SD Gothic Neo"/>
                <a:ea typeface="Apple SD Gothic Neo"/>
                <a:cs typeface="Apple SD Gothic Neo"/>
              </a:rPr>
              <a:t>1</a:t>
            </a:r>
          </a:p>
        </p:txBody>
      </p:sp>
      <p:cxnSp>
        <p:nvCxnSpPr>
          <p:cNvPr id="7" name="Connector 6"/>
          <p:cNvCxnSpPr/>
          <p:nvPr/>
        </p:nvCxnSpPr>
        <p:spPr>
          <a:xfrm>
            <a:off x="1965960" y="4645152"/>
            <a:ext cx="649224" cy="0"/>
          </a:xfrm>
          <a:prstGeom prst="line">
            <a:avLst/>
          </a:prstGeom>
          <a:ln w="38100">
            <a:solidFill>
              <a:srgbClr val="0B6E4F"/>
            </a:solidFill>
          </a:ln>
        </p:spPr>
        <p:style>
          <a:lnRef idx="2">
            <a:schemeClr val="accent1"/>
          </a:lnRef>
          <a:fillRef idx="0">
            <a:schemeClr val="accent1"/>
          </a:fillRef>
          <a:effectRef idx="1">
            <a:schemeClr val="accent1"/>
          </a:effectRef>
          <a:fontRef idx="minor">
            <a:schemeClr val="tx1"/>
          </a:fontRef>
        </p:style>
      </p:cxnSp>
      <p:sp>
        <p:nvSpPr>
          <p:cNvPr id="8" name="badge_2"/>
          <p:cNvSpPr/>
          <p:nvPr/>
        </p:nvSpPr>
        <p:spPr>
          <a:xfrm>
            <a:off x="2651760" y="4434840"/>
            <a:ext cx="420624" cy="420624"/>
          </a:xfrm>
          <a:prstGeom prst="ellipse">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1F2328"/>
                </a:solidFill>
                <a:latin typeface="Apple SD Gothic Neo"/>
                <a:ea typeface="Apple SD Gothic Neo"/>
                <a:cs typeface="Apple SD Gothic Neo"/>
              </a:rPr>
              <a:t>2</a:t>
            </a:r>
          </a:p>
        </p:txBody>
      </p:sp>
      <p:cxnSp>
        <p:nvCxnSpPr>
          <p:cNvPr id="9" name="Connector 8"/>
          <p:cNvCxnSpPr/>
          <p:nvPr/>
        </p:nvCxnSpPr>
        <p:spPr>
          <a:xfrm>
            <a:off x="3108960" y="4645152"/>
            <a:ext cx="649224" cy="0"/>
          </a:xfrm>
          <a:prstGeom prst="line">
            <a:avLst/>
          </a:prstGeom>
          <a:ln w="38100">
            <a:solidFill>
              <a:srgbClr val="0B6E4F"/>
            </a:solidFill>
          </a:ln>
        </p:spPr>
        <p:style>
          <a:lnRef idx="2">
            <a:schemeClr val="accent1"/>
          </a:lnRef>
          <a:fillRef idx="0">
            <a:schemeClr val="accent1"/>
          </a:fillRef>
          <a:effectRef idx="1">
            <a:schemeClr val="accent1"/>
          </a:effectRef>
          <a:fontRef idx="minor">
            <a:schemeClr val="tx1"/>
          </a:fontRef>
        </p:style>
      </p:cxnSp>
      <p:sp>
        <p:nvSpPr>
          <p:cNvPr id="10" name="badge_3"/>
          <p:cNvSpPr/>
          <p:nvPr/>
        </p:nvSpPr>
        <p:spPr>
          <a:xfrm>
            <a:off x="3794760" y="4434840"/>
            <a:ext cx="420624" cy="420624"/>
          </a:xfrm>
          <a:prstGeom prst="ellipse">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Apple SD Gothic Neo"/>
                <a:ea typeface="Apple SD Gothic Neo"/>
                <a:cs typeface="Apple SD Gothic Neo"/>
              </a:rPr>
              <a:t>3</a:t>
            </a:r>
          </a:p>
        </p:txBody>
      </p:sp>
      <p:cxnSp>
        <p:nvCxnSpPr>
          <p:cNvPr id="11" name="Connector 10"/>
          <p:cNvCxnSpPr/>
          <p:nvPr/>
        </p:nvCxnSpPr>
        <p:spPr>
          <a:xfrm>
            <a:off x="4251960" y="4645152"/>
            <a:ext cx="649224" cy="0"/>
          </a:xfrm>
          <a:prstGeom prst="line">
            <a:avLst/>
          </a:prstGeom>
          <a:ln w="38100">
            <a:solidFill>
              <a:srgbClr val="0B6E4F"/>
            </a:solidFill>
          </a:ln>
        </p:spPr>
        <p:style>
          <a:lnRef idx="2">
            <a:schemeClr val="accent1"/>
          </a:lnRef>
          <a:fillRef idx="0">
            <a:schemeClr val="accent1"/>
          </a:fillRef>
          <a:effectRef idx="1">
            <a:schemeClr val="accent1"/>
          </a:effectRef>
          <a:fontRef idx="minor">
            <a:schemeClr val="tx1"/>
          </a:fontRef>
        </p:style>
      </p:cxnSp>
      <p:sp>
        <p:nvSpPr>
          <p:cNvPr id="12" name="badge_4"/>
          <p:cNvSpPr/>
          <p:nvPr/>
        </p:nvSpPr>
        <p:spPr>
          <a:xfrm>
            <a:off x="4937760" y="4434840"/>
            <a:ext cx="420624" cy="420624"/>
          </a:xfrm>
          <a:prstGeom prst="ellipse">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1F2328"/>
                </a:solidFill>
                <a:latin typeface="Apple SD Gothic Neo"/>
                <a:ea typeface="Apple SD Gothic Neo"/>
                <a:cs typeface="Apple SD Gothic Neo"/>
              </a:rPr>
              <a:t>4</a:t>
            </a:r>
          </a:p>
        </p:txBody>
      </p:sp>
      <p:sp>
        <p:nvSpPr>
          <p:cNvPr id="13" name="TextBox 12"/>
          <p:cNvSpPr txBox="1"/>
          <p:nvPr/>
        </p:nvSpPr>
        <p:spPr>
          <a:xfrm>
            <a:off x="6080760" y="4416552"/>
            <a:ext cx="1371600" cy="457200"/>
          </a:xfrm>
          <a:prstGeom prst="rect">
            <a:avLst/>
          </a:prstGeom>
          <a:noFill/>
        </p:spPr>
        <p:txBody>
          <a:bodyPr wrap="square" anchor="ctr" lIns="0" rIns="0" tIns="0" bIns="0">
            <a:spAutoFit/>
          </a:bodyPr>
          <a:lstStyle/>
          <a:p>
            <a:pPr algn="l"/>
            <a:r>
              <a:rPr sz="1500" b="1" i="0">
                <a:solidFill>
                  <a:srgbClr val="FFFFFF"/>
                </a:solidFill>
                <a:latin typeface="Apple SD Gothic Neo"/>
                <a:ea typeface="Apple SD Gothic Neo"/>
                <a:cs typeface="Apple SD Gothic Neo"/>
              </a:rPr>
              <a:t>킨텍스</a:t>
            </a:r>
          </a:p>
        </p:txBody>
      </p:sp>
      <p:sp>
        <p:nvSpPr>
          <p:cNvPr id="14" name="TextBox 13"/>
          <p:cNvSpPr txBox="1"/>
          <p:nvPr/>
        </p:nvSpPr>
        <p:spPr>
          <a:xfrm>
            <a:off x="1417320" y="4956048"/>
            <a:ext cx="5486400" cy="365760"/>
          </a:xfrm>
          <a:prstGeom prst="rect">
            <a:avLst/>
          </a:prstGeom>
          <a:noFill/>
        </p:spPr>
        <p:txBody>
          <a:bodyPr wrap="square" anchor="t" lIns="0" rIns="0" tIns="0" bIns="0">
            <a:spAutoFit/>
          </a:bodyPr>
          <a:lstStyle/>
          <a:p>
            <a:pPr algn="l"/>
            <a:r>
              <a:rPr sz="1300" b="1" i="0">
                <a:solidFill>
                  <a:srgbClr val="F2A900"/>
                </a:solidFill>
                <a:latin typeface="Apple SD Gothic Neo"/>
                <a:ea typeface="Apple SD Gothic Neo"/>
                <a:cs typeface="Apple SD Gothic Neo"/>
              </a:rPr>
              <a:t>● 핵심 구간 2, 4    </a:t>
            </a:r>
            <a:r>
              <a:rPr sz="1300" b="1" i="0">
                <a:solidFill>
                  <a:srgbClr val="8A939E"/>
                </a:solidFill>
                <a:latin typeface="Apple SD Gothic Neo"/>
                <a:ea typeface="Apple SD Gothic Neo"/>
                <a:cs typeface="Apple SD Gothic Neo"/>
              </a:rPr>
              <a:t>● 확장 구간 1, 3</a:t>
            </a:r>
          </a:p>
        </p:txBody>
      </p:sp>
      <p:sp>
        <p:nvSpPr>
          <p:cNvPr id="15" name="TextBox 14"/>
          <p:cNvSpPr txBox="1"/>
          <p:nvPr/>
        </p:nvSpPr>
        <p:spPr>
          <a:xfrm>
            <a:off x="640080" y="5532120"/>
            <a:ext cx="6400800" cy="365760"/>
          </a:xfrm>
          <a:prstGeom prst="rect">
            <a:avLst/>
          </a:prstGeom>
          <a:noFill/>
        </p:spPr>
        <p:txBody>
          <a:bodyPr wrap="square" anchor="t" lIns="0" rIns="0" tIns="0" bIns="0">
            <a:spAutoFit/>
          </a:bodyPr>
          <a:lstStyle/>
          <a:p>
            <a:pPr algn="l"/>
            <a:r>
              <a:rPr sz="1600" b="1" i="0">
                <a:solidFill>
                  <a:srgbClr val="F2A900"/>
                </a:solidFill>
                <a:latin typeface="Apple SD Gothic Neo"/>
                <a:ea typeface="Apple SD Gothic Neo"/>
                <a:cs typeface="Apple SD Gothic Neo"/>
              </a:rPr>
              <a:t>팀 [팀 이름]</a:t>
            </a:r>
          </a:p>
        </p:txBody>
      </p:sp>
      <p:sp>
        <p:nvSpPr>
          <p:cNvPr id="16" name="team_card"/>
          <p:cNvSpPr/>
          <p:nvPr/>
        </p:nvSpPr>
        <p:spPr>
          <a:xfrm>
            <a:off x="7635240" y="822960"/>
            <a:ext cx="3931920" cy="5029200"/>
          </a:xfrm>
          <a:prstGeom prst="roundRect">
            <a:avLst>
              <a:gd name="adj" fmla="val 5000"/>
            </a:avLst>
          </a:prstGeom>
          <a:solidFill>
            <a:srgbClr val="2A30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79" y="1097280"/>
            <a:ext cx="3383280" cy="457200"/>
          </a:xfrm>
          <a:prstGeom prst="rect">
            <a:avLst/>
          </a:prstGeom>
          <a:noFill/>
        </p:spPr>
        <p:txBody>
          <a:bodyPr wrap="square" anchor="t" lIns="0" rIns="0" tIns="0" bIns="0">
            <a:spAutoFit/>
          </a:bodyPr>
          <a:lstStyle/>
          <a:p>
            <a:pPr algn="l"/>
            <a:r>
              <a:rPr sz="1800" b="1" i="0">
                <a:solidFill>
                  <a:srgbClr val="FFFFFF"/>
                </a:solidFill>
                <a:latin typeface="Apple SD Gothic Neo"/>
                <a:ea typeface="Apple SD Gothic Neo"/>
                <a:cs typeface="Apple SD Gothic Neo"/>
              </a:rPr>
              <a:t>역할 분담</a:t>
            </a:r>
          </a:p>
        </p:txBody>
      </p:sp>
      <p:sp>
        <p:nvSpPr>
          <p:cNvPr id="18" name="badge_A"/>
          <p:cNvSpPr/>
          <p:nvPr/>
        </p:nvSpPr>
        <p:spPr>
          <a:xfrm>
            <a:off x="7955279" y="1828800"/>
            <a:ext cx="384048" cy="384048"/>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pple SD Gothic Neo"/>
                <a:ea typeface="Apple SD Gothic Neo"/>
                <a:cs typeface="Apple SD Gothic Neo"/>
              </a:rPr>
              <a:t>A</a:t>
            </a:r>
          </a:p>
        </p:txBody>
      </p:sp>
      <p:sp>
        <p:nvSpPr>
          <p:cNvPr id="19" name="TextBox 18"/>
          <p:cNvSpPr txBox="1"/>
          <p:nvPr/>
        </p:nvSpPr>
        <p:spPr>
          <a:xfrm>
            <a:off x="8503920" y="1764792"/>
            <a:ext cx="2926080" cy="1005840"/>
          </a:xfrm>
          <a:prstGeom prst="rect">
            <a:avLst/>
          </a:prstGeom>
          <a:noFill/>
        </p:spPr>
        <p:txBody>
          <a:bodyPr wrap="square" anchor="t" lIns="0" rIns="0" tIns="0" bIns="0">
            <a:spAutoFit/>
          </a:bodyPr>
          <a:lstStyle/>
          <a:p>
            <a:pPr algn="l"/>
            <a:r>
              <a:rPr sz="1500" b="1" i="0">
                <a:solidFill>
                  <a:srgbClr val="FFFFFF"/>
                </a:solidFill>
                <a:latin typeface="Apple SD Gothic Neo"/>
                <a:ea typeface="Apple SD Gothic Neo"/>
                <a:cs typeface="Apple SD Gothic Neo"/>
              </a:rPr>
              <a:t>[이름]  </a:t>
            </a:r>
            <a:r>
              <a:rPr sz="1500" b="0" i="0">
                <a:solidFill>
                  <a:srgbClr val="F2A900"/>
                </a:solidFill>
                <a:latin typeface="Apple SD Gothic Neo"/>
                <a:ea typeface="Apple SD Gothic Neo"/>
                <a:cs typeface="Apple SD Gothic Neo"/>
              </a:rPr>
              <a:t>도로 · 구간 2 (+1)</a:t>
            </a:r>
          </a:p>
          <a:p>
            <a:pPr algn="l"/>
            <a:r>
              <a:rPr sz="1300" b="0" i="0">
                <a:solidFill>
                  <a:srgbClr val="B8C1CB"/>
                </a:solidFill>
                <a:latin typeface="Apple SD Gothic Neo"/>
                <a:ea typeface="Apple SD Gothic Neo"/>
                <a:cs typeface="Apple SD Gothic Neo"/>
              </a:rPr>
              <a:t>지도 변환, 차선·신호 보정</a:t>
            </a:r>
          </a:p>
        </p:txBody>
      </p:sp>
      <p:sp>
        <p:nvSpPr>
          <p:cNvPr id="20" name="badge_B"/>
          <p:cNvSpPr/>
          <p:nvPr/>
        </p:nvSpPr>
        <p:spPr>
          <a:xfrm>
            <a:off x="7955279" y="2834639"/>
            <a:ext cx="384048" cy="384048"/>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pple SD Gothic Neo"/>
                <a:ea typeface="Apple SD Gothic Neo"/>
                <a:cs typeface="Apple SD Gothic Neo"/>
              </a:rPr>
              <a:t>B</a:t>
            </a:r>
          </a:p>
        </p:txBody>
      </p:sp>
      <p:sp>
        <p:nvSpPr>
          <p:cNvPr id="21" name="TextBox 20"/>
          <p:cNvSpPr txBox="1"/>
          <p:nvPr/>
        </p:nvSpPr>
        <p:spPr>
          <a:xfrm>
            <a:off x="8503920" y="2770632"/>
            <a:ext cx="2926080" cy="1005840"/>
          </a:xfrm>
          <a:prstGeom prst="rect">
            <a:avLst/>
          </a:prstGeom>
          <a:noFill/>
        </p:spPr>
        <p:txBody>
          <a:bodyPr wrap="square" anchor="t" lIns="0" rIns="0" tIns="0" bIns="0">
            <a:spAutoFit/>
          </a:bodyPr>
          <a:lstStyle/>
          <a:p>
            <a:pPr algn="l"/>
            <a:r>
              <a:rPr sz="1500" b="1" i="0">
                <a:solidFill>
                  <a:srgbClr val="FFFFFF"/>
                </a:solidFill>
                <a:latin typeface="Apple SD Gothic Neo"/>
                <a:ea typeface="Apple SD Gothic Neo"/>
                <a:cs typeface="Apple SD Gothic Neo"/>
              </a:rPr>
              <a:t>[이름]  </a:t>
            </a:r>
            <a:r>
              <a:rPr sz="1500" b="0" i="0">
                <a:solidFill>
                  <a:srgbClr val="F2A900"/>
                </a:solidFill>
                <a:latin typeface="Apple SD Gothic Neo"/>
                <a:ea typeface="Apple SD Gothic Neo"/>
                <a:cs typeface="Apple SD Gothic Neo"/>
              </a:rPr>
              <a:t>도로 · 구간 4 (+3)</a:t>
            </a:r>
          </a:p>
          <a:p>
            <a:pPr algn="l"/>
            <a:r>
              <a:rPr sz="1300" b="0" i="0">
                <a:solidFill>
                  <a:srgbClr val="B8C1CB"/>
                </a:solidFill>
                <a:latin typeface="Apple SD Gothic Neo"/>
                <a:ea typeface="Apple SD Gothic Neo"/>
                <a:cs typeface="Apple SD Gothic Neo"/>
              </a:rPr>
              <a:t>램프·출구 연결, 경로 검증</a:t>
            </a:r>
          </a:p>
        </p:txBody>
      </p:sp>
      <p:sp>
        <p:nvSpPr>
          <p:cNvPr id="22" name="badge_C"/>
          <p:cNvSpPr/>
          <p:nvPr/>
        </p:nvSpPr>
        <p:spPr>
          <a:xfrm>
            <a:off x="7955279" y="3840480"/>
            <a:ext cx="384048" cy="384048"/>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pple SD Gothic Neo"/>
                <a:ea typeface="Apple SD Gothic Neo"/>
                <a:cs typeface="Apple SD Gothic Neo"/>
              </a:rPr>
              <a:t>C</a:t>
            </a:r>
          </a:p>
        </p:txBody>
      </p:sp>
      <p:sp>
        <p:nvSpPr>
          <p:cNvPr id="23" name="TextBox 22"/>
          <p:cNvSpPr txBox="1"/>
          <p:nvPr/>
        </p:nvSpPr>
        <p:spPr>
          <a:xfrm>
            <a:off x="8503920" y="3776472"/>
            <a:ext cx="2926080" cy="1005840"/>
          </a:xfrm>
          <a:prstGeom prst="rect">
            <a:avLst/>
          </a:prstGeom>
          <a:noFill/>
        </p:spPr>
        <p:txBody>
          <a:bodyPr wrap="square" anchor="t" lIns="0" rIns="0" tIns="0" bIns="0">
            <a:spAutoFit/>
          </a:bodyPr>
          <a:lstStyle/>
          <a:p>
            <a:pPr algn="l"/>
            <a:r>
              <a:rPr sz="1500" b="1" i="0">
                <a:solidFill>
                  <a:srgbClr val="FFFFFF"/>
                </a:solidFill>
                <a:latin typeface="Apple SD Gothic Neo"/>
                <a:ea typeface="Apple SD Gothic Neo"/>
                <a:cs typeface="Apple SD Gothic Neo"/>
              </a:rPr>
              <a:t>[이름]  </a:t>
            </a:r>
            <a:r>
              <a:rPr sz="1500" b="0" i="0">
                <a:solidFill>
                  <a:srgbClr val="F2A900"/>
                </a:solidFill>
                <a:latin typeface="Apple SD Gothic Neo"/>
                <a:ea typeface="Apple SD Gothic Neo"/>
                <a:cs typeface="Apple SD Gothic Neo"/>
              </a:rPr>
              <a:t>일반 차량 · 데이터</a:t>
            </a:r>
          </a:p>
          <a:p>
            <a:pPr algn="l"/>
            <a:r>
              <a:rPr sz="1300" b="0" i="0">
                <a:solidFill>
                  <a:srgbClr val="B8C1CB"/>
                </a:solidFill>
                <a:latin typeface="Apple SD Gothic Neo"/>
                <a:ea typeface="Apple SD Gothic Neo"/>
                <a:cs typeface="Apple SD Gothic Neo"/>
              </a:rPr>
              <a:t>4종 혼합 교통, 데이터 수집</a:t>
            </a:r>
          </a:p>
        </p:txBody>
      </p:sp>
      <p:sp>
        <p:nvSpPr>
          <p:cNvPr id="24" name="badge_D"/>
          <p:cNvSpPr/>
          <p:nvPr/>
        </p:nvSpPr>
        <p:spPr>
          <a:xfrm>
            <a:off x="7955279" y="4846320"/>
            <a:ext cx="384048" cy="384048"/>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pple SD Gothic Neo"/>
                <a:ea typeface="Apple SD Gothic Neo"/>
                <a:cs typeface="Apple SD Gothic Neo"/>
              </a:rPr>
              <a:t>D</a:t>
            </a:r>
          </a:p>
        </p:txBody>
      </p:sp>
      <p:sp>
        <p:nvSpPr>
          <p:cNvPr id="25" name="TextBox 24"/>
          <p:cNvSpPr txBox="1"/>
          <p:nvPr/>
        </p:nvSpPr>
        <p:spPr>
          <a:xfrm>
            <a:off x="8503920" y="4782312"/>
            <a:ext cx="2926080" cy="1005840"/>
          </a:xfrm>
          <a:prstGeom prst="rect">
            <a:avLst/>
          </a:prstGeom>
          <a:noFill/>
        </p:spPr>
        <p:txBody>
          <a:bodyPr wrap="square" anchor="t" lIns="0" rIns="0" tIns="0" bIns="0">
            <a:spAutoFit/>
          </a:bodyPr>
          <a:lstStyle/>
          <a:p>
            <a:pPr algn="l"/>
            <a:r>
              <a:rPr sz="1500" b="1" i="0">
                <a:solidFill>
                  <a:srgbClr val="FFFFFF"/>
                </a:solidFill>
                <a:latin typeface="Apple SD Gothic Neo"/>
                <a:ea typeface="Apple SD Gothic Neo"/>
                <a:cs typeface="Apple SD Gothic Neo"/>
              </a:rPr>
              <a:t>[이름]  </a:t>
            </a:r>
            <a:r>
              <a:rPr sz="1500" b="0" i="0">
                <a:solidFill>
                  <a:srgbClr val="F2A900"/>
                </a:solidFill>
                <a:latin typeface="Apple SD Gothic Neo"/>
                <a:ea typeface="Apple SD Gothic Neo"/>
                <a:cs typeface="Apple SD Gothic Neo"/>
              </a:rPr>
              <a:t>AV 학습 · 평가</a:t>
            </a:r>
          </a:p>
          <a:p>
            <a:pPr algn="l"/>
            <a:r>
              <a:rPr sz="1300" b="0" i="0">
                <a:solidFill>
                  <a:srgbClr val="B8C1CB"/>
                </a:solidFill>
                <a:latin typeface="Apple SD Gothic Neo"/>
                <a:ea typeface="Apple SD Gothic Neo"/>
                <a:cs typeface="Apple SD Gothic Neo"/>
              </a:rPr>
              <a:t>관측·보상 설계, 학습, 프로젝트 페이지</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84048"/>
            <a:ext cx="11064240" cy="685800"/>
          </a:xfrm>
          <a:prstGeom prst="rect">
            <a:avLst/>
          </a:prstGeom>
          <a:noFill/>
        </p:spPr>
        <p:txBody>
          <a:bodyPr wrap="square" anchor="t" lIns="0" rIns="0" tIns="0" bIns="0">
            <a:spAutoFit/>
          </a:bodyPr>
          <a:lstStyle/>
          <a:p>
            <a:pPr algn="l"/>
            <a:r>
              <a:rPr sz="3200" b="1" i="0">
                <a:solidFill>
                  <a:srgbClr val="1F2328"/>
                </a:solidFill>
                <a:latin typeface="Apple SD Gothic Neo"/>
                <a:ea typeface="Apple SD Gothic Neo"/>
                <a:cs typeface="Apple SD Gothic Neo"/>
              </a:rPr>
              <a:t>반드시 해야 하는 차선변경</a:t>
            </a:r>
          </a:p>
        </p:txBody>
      </p:sp>
      <p:sp>
        <p:nvSpPr>
          <p:cNvPr id="3" name="subtitle"/>
          <p:cNvSpPr txBox="1"/>
          <p:nvPr/>
        </p:nvSpPr>
        <p:spPr>
          <a:xfrm>
            <a:off x="548640" y="1024128"/>
            <a:ext cx="11064240" cy="365760"/>
          </a:xfrm>
          <a:prstGeom prst="rect">
            <a:avLst/>
          </a:prstGeom>
          <a:noFill/>
        </p:spPr>
        <p:txBody>
          <a:bodyPr wrap="square" anchor="t" lIns="0" rIns="0" tIns="0" bIns="0">
            <a:spAutoFit/>
          </a:bodyPr>
          <a:lstStyle/>
          <a:p>
            <a:pPr algn="l"/>
            <a:r>
              <a:rPr sz="1500" b="0" i="0">
                <a:solidFill>
                  <a:srgbClr val="5B636E"/>
                </a:solidFill>
                <a:latin typeface="Apple SD Gothic Neo"/>
                <a:ea typeface="Apple SD Gothic Neo"/>
                <a:cs typeface="Apple SD Gothic Neo"/>
              </a:rPr>
              <a:t>추월처럼 해도 되는 선택이 아니라, 안 하면 목적지에 못 가는 결정이 계속 나온다</a:t>
            </a:r>
          </a:p>
        </p:txBody>
      </p:sp>
      <p:pic>
        <p:nvPicPr>
          <p:cNvPr id="4" name="Picture 3" descr="map_overview.png"/>
          <p:cNvPicPr>
            <a:picLocks noChangeAspect="1"/>
          </p:cNvPicPr>
          <p:nvPr/>
        </p:nvPicPr>
        <p:blipFill>
          <a:blip r:embed="rId2"/>
          <a:stretch>
            <a:fillRect/>
          </a:stretch>
        </p:blipFill>
        <p:spPr>
          <a:xfrm>
            <a:off x="8275320" y="320040"/>
            <a:ext cx="3563200" cy="6263640"/>
          </a:xfrm>
          <a:prstGeom prst="rect">
            <a:avLst/>
          </a:prstGeom>
        </p:spPr>
      </p:pic>
      <p:sp>
        <p:nvSpPr>
          <p:cNvPr id="5" name="badge_1"/>
          <p:cNvSpPr/>
          <p:nvPr/>
        </p:nvSpPr>
        <p:spPr>
          <a:xfrm>
            <a:off x="548640" y="1664208"/>
            <a:ext cx="402336" cy="402336"/>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Apple SD Gothic Neo"/>
                <a:ea typeface="Apple SD Gothic Neo"/>
                <a:cs typeface="Apple SD Gothic Neo"/>
              </a:rPr>
              <a:t>1</a:t>
            </a:r>
          </a:p>
        </p:txBody>
      </p:sp>
      <p:sp>
        <p:nvSpPr>
          <p:cNvPr id="6" name="TextBox 5"/>
          <p:cNvSpPr txBox="1"/>
          <p:nvPr/>
        </p:nvSpPr>
        <p:spPr>
          <a:xfrm>
            <a:off x="1143000" y="1609344"/>
            <a:ext cx="6766560" cy="914400"/>
          </a:xfrm>
          <a:prstGeom prst="rect">
            <a:avLst/>
          </a:prstGeom>
          <a:noFill/>
        </p:spPr>
        <p:txBody>
          <a:bodyPr wrap="square" anchor="t" lIns="0" rIns="0" tIns="0" bIns="0">
            <a:spAutoFit/>
          </a:bodyPr>
          <a:lstStyle/>
          <a:p>
            <a:pPr algn="l"/>
            <a:r>
              <a:rPr sz="1800" b="1" i="0">
                <a:solidFill>
                  <a:srgbClr val="1F2328"/>
                </a:solidFill>
                <a:latin typeface="Apple SD Gothic Neo"/>
                <a:ea typeface="Apple SD Gothic Neo"/>
                <a:cs typeface="Apple SD Gothic Neo"/>
              </a:rPr>
              <a:t>기한 있는 차선변경</a:t>
            </a:r>
          </a:p>
          <a:p>
            <a:pPr algn="l"/>
            <a:r>
              <a:rPr sz="1400" b="0" i="0">
                <a:solidFill>
                  <a:srgbClr val="5B636E"/>
                </a:solidFill>
                <a:latin typeface="Apple SD Gothic Neo"/>
                <a:ea typeface="Apple SD Gothic Neo"/>
                <a:cs typeface="Apple SD Gothic Neo"/>
              </a:rPr>
              <a:t>출구까지 남은 거리 안에 목표 차선으로 들어가야 한다. 늦으면 경로 이탈, 서두르면 충돌 위험</a:t>
            </a:r>
          </a:p>
        </p:txBody>
      </p:sp>
      <p:sp>
        <p:nvSpPr>
          <p:cNvPr id="7" name="badge_2"/>
          <p:cNvSpPr/>
          <p:nvPr/>
        </p:nvSpPr>
        <p:spPr>
          <a:xfrm>
            <a:off x="548640" y="2642616"/>
            <a:ext cx="402336" cy="402336"/>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Apple SD Gothic Neo"/>
                <a:ea typeface="Apple SD Gothic Neo"/>
                <a:cs typeface="Apple SD Gothic Neo"/>
              </a:rPr>
              <a:t>2</a:t>
            </a:r>
          </a:p>
        </p:txBody>
      </p:sp>
      <p:sp>
        <p:nvSpPr>
          <p:cNvPr id="8" name="TextBox 7"/>
          <p:cNvSpPr txBox="1"/>
          <p:nvPr/>
        </p:nvSpPr>
        <p:spPr>
          <a:xfrm>
            <a:off x="1143000" y="2587752"/>
            <a:ext cx="6766560" cy="914400"/>
          </a:xfrm>
          <a:prstGeom prst="rect">
            <a:avLst/>
          </a:prstGeom>
          <a:noFill/>
        </p:spPr>
        <p:txBody>
          <a:bodyPr wrap="square" anchor="t" lIns="0" rIns="0" tIns="0" bIns="0">
            <a:spAutoFit/>
          </a:bodyPr>
          <a:lstStyle/>
          <a:p>
            <a:pPr algn="l"/>
            <a:r>
              <a:rPr sz="1800" b="1" i="0">
                <a:solidFill>
                  <a:srgbClr val="1F2328"/>
                </a:solidFill>
                <a:latin typeface="Apple SD Gothic Neo"/>
                <a:ea typeface="Apple SD Gothic Neo"/>
                <a:cs typeface="Apple SD Gothic Neo"/>
              </a:rPr>
              <a:t>한 경로에 모인 상호작용</a:t>
            </a:r>
          </a:p>
          <a:p>
            <a:pPr algn="l"/>
            <a:r>
              <a:rPr sz="1400" b="0" i="0">
                <a:solidFill>
                  <a:srgbClr val="5B636E"/>
                </a:solidFill>
                <a:latin typeface="Apple SD Gothic Neo"/>
                <a:ea typeface="Apple SD Gothic Neo"/>
                <a:cs typeface="Apple SD Gothic Neo"/>
              </a:rPr>
              <a:t>합류 차량과 본선 차량, 차로 감소 구간의 양보, 다중 차선 변경, 신호 교차로 통과</a:t>
            </a:r>
          </a:p>
        </p:txBody>
      </p:sp>
      <p:sp>
        <p:nvSpPr>
          <p:cNvPr id="9" name="badge_3"/>
          <p:cNvSpPr/>
          <p:nvPr/>
        </p:nvSpPr>
        <p:spPr>
          <a:xfrm>
            <a:off x="548640" y="3621024"/>
            <a:ext cx="402336" cy="402336"/>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Apple SD Gothic Neo"/>
                <a:ea typeface="Apple SD Gothic Neo"/>
                <a:cs typeface="Apple SD Gothic Neo"/>
              </a:rPr>
              <a:t>3</a:t>
            </a:r>
          </a:p>
        </p:txBody>
      </p:sp>
      <p:sp>
        <p:nvSpPr>
          <p:cNvPr id="10" name="TextBox 9"/>
          <p:cNvSpPr txBox="1"/>
          <p:nvPr/>
        </p:nvSpPr>
        <p:spPr>
          <a:xfrm>
            <a:off x="1143000" y="3566160"/>
            <a:ext cx="6766560" cy="914400"/>
          </a:xfrm>
          <a:prstGeom prst="rect">
            <a:avLst/>
          </a:prstGeom>
          <a:noFill/>
        </p:spPr>
        <p:txBody>
          <a:bodyPr wrap="square" anchor="t" lIns="0" rIns="0" tIns="0" bIns="0">
            <a:spAutoFit/>
          </a:bodyPr>
          <a:lstStyle/>
          <a:p>
            <a:pPr algn="l"/>
            <a:r>
              <a:rPr sz="1800" b="1" i="0">
                <a:solidFill>
                  <a:srgbClr val="1F2328"/>
                </a:solidFill>
                <a:latin typeface="Apple SD Gothic Neo"/>
                <a:ea typeface="Apple SD Gothic Neo"/>
                <a:cs typeface="Apple SD Gothic Neo"/>
              </a:rPr>
              <a:t>이 도로만의 조건</a:t>
            </a:r>
          </a:p>
          <a:p>
            <a:pPr algn="l"/>
            <a:r>
              <a:rPr sz="1400" b="0" i="0">
                <a:solidFill>
                  <a:srgbClr val="5B636E"/>
                </a:solidFill>
                <a:latin typeface="Apple SD Gothic Neo"/>
                <a:ea typeface="Apple SD Gothic Neo"/>
                <a:cs typeface="Apple SD Gothic Neo"/>
              </a:rPr>
              <a:t>높이 3m 제한 지하도로에서 차종별로 갈 길이 갈리고, 고속도로 80~100km/h와 도심 50km/h를 오간다</a:t>
            </a:r>
          </a:p>
        </p:txBody>
      </p:sp>
      <p:sp>
        <p:nvSpPr>
          <p:cNvPr id="11" name="TextBox 10"/>
          <p:cNvSpPr txBox="1"/>
          <p:nvPr/>
        </p:nvSpPr>
        <p:spPr>
          <a:xfrm>
            <a:off x="548640" y="4572000"/>
            <a:ext cx="7406640" cy="365760"/>
          </a:xfrm>
          <a:prstGeom prst="rect">
            <a:avLst/>
          </a:prstGeom>
          <a:noFill/>
        </p:spPr>
        <p:txBody>
          <a:bodyPr wrap="square" anchor="t" lIns="0" rIns="0" tIns="0" bIns="0">
            <a:spAutoFit/>
          </a:bodyPr>
          <a:lstStyle/>
          <a:p>
            <a:pPr algn="l"/>
            <a:r>
              <a:rPr sz="1300" b="0" i="0">
                <a:solidFill>
                  <a:srgbClr val="5B636E"/>
                </a:solidFill>
                <a:latin typeface="Apple SD Gothic Neo"/>
                <a:ea typeface="Apple SD Gothic Neo"/>
                <a:cs typeface="Apple SD Gothic Neo"/>
              </a:rPr>
              <a:t>그리고 이 길은 수업에서 실제로 가는 킨텍스 로봇박람회 견학 경로다</a:t>
            </a:r>
          </a:p>
        </p:txBody>
      </p:sp>
      <p:sp>
        <p:nvSpPr>
          <p:cNvPr id="12" name="stat_0"/>
          <p:cNvSpPr/>
          <p:nvPr/>
        </p:nvSpPr>
        <p:spPr>
          <a:xfrm>
            <a:off x="548640" y="5029200"/>
            <a:ext cx="2286000" cy="12801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084064"/>
            <a:ext cx="1920240" cy="731520"/>
          </a:xfrm>
          <a:prstGeom prst="rect">
            <a:avLst/>
          </a:prstGeom>
          <a:noFill/>
        </p:spPr>
        <p:txBody>
          <a:bodyPr wrap="square" anchor="t" lIns="0" rIns="0" tIns="0" bIns="0">
            <a:spAutoFit/>
          </a:bodyPr>
          <a:lstStyle/>
          <a:p>
            <a:pPr algn="l"/>
            <a:r>
              <a:rPr sz="3400" b="1" i="0">
                <a:solidFill>
                  <a:srgbClr val="0B6E4F"/>
                </a:solidFill>
                <a:latin typeface="Apple SD Gothic Neo"/>
                <a:ea typeface="Apple SD Gothic Neo"/>
                <a:cs typeface="Apple SD Gothic Neo"/>
              </a:rPr>
              <a:t>59.4</a:t>
            </a:r>
            <a:r>
              <a:rPr sz="1600" b="1" i="0">
                <a:solidFill>
                  <a:srgbClr val="0B6E4F"/>
                </a:solidFill>
                <a:latin typeface="Apple SD Gothic Neo"/>
                <a:ea typeface="Apple SD Gothic Neo"/>
                <a:cs typeface="Apple SD Gothic Neo"/>
              </a:rPr>
              <a:t> km</a:t>
            </a:r>
          </a:p>
        </p:txBody>
      </p:sp>
      <p:sp>
        <p:nvSpPr>
          <p:cNvPr id="14" name="TextBox 13"/>
          <p:cNvSpPr txBox="1"/>
          <p:nvPr/>
        </p:nvSpPr>
        <p:spPr>
          <a:xfrm>
            <a:off x="777240" y="5788152"/>
            <a:ext cx="1965960" cy="457200"/>
          </a:xfrm>
          <a:prstGeom prst="rect">
            <a:avLst/>
          </a:prstGeom>
          <a:noFill/>
        </p:spPr>
        <p:txBody>
          <a:bodyPr wrap="square" anchor="t" lIns="0" rIns="0" tIns="0" bIns="0">
            <a:spAutoFit/>
          </a:bodyPr>
          <a:lstStyle/>
          <a:p>
            <a:pPr algn="l"/>
            <a:r>
              <a:rPr sz="1200" b="0" i="0">
                <a:solidFill>
                  <a:srgbClr val="5B636E"/>
                </a:solidFill>
                <a:latin typeface="Apple SD Gothic Neo"/>
                <a:ea typeface="Apple SD Gothic Neo"/>
                <a:cs typeface="Apple SD Gothic Neo"/>
              </a:rPr>
              <a:t>전체 경로</a:t>
            </a:r>
          </a:p>
        </p:txBody>
      </p:sp>
      <p:sp>
        <p:nvSpPr>
          <p:cNvPr id="15" name="stat_1"/>
          <p:cNvSpPr/>
          <p:nvPr/>
        </p:nvSpPr>
        <p:spPr>
          <a:xfrm>
            <a:off x="3063240" y="5029200"/>
            <a:ext cx="2286000" cy="12801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91840" y="5084064"/>
            <a:ext cx="1920240" cy="731520"/>
          </a:xfrm>
          <a:prstGeom prst="rect">
            <a:avLst/>
          </a:prstGeom>
          <a:noFill/>
        </p:spPr>
        <p:txBody>
          <a:bodyPr wrap="square" anchor="t" lIns="0" rIns="0" tIns="0" bIns="0">
            <a:spAutoFit/>
          </a:bodyPr>
          <a:lstStyle/>
          <a:p>
            <a:pPr algn="l"/>
            <a:r>
              <a:rPr sz="3400" b="1" i="0">
                <a:solidFill>
                  <a:srgbClr val="0B6E4F"/>
                </a:solidFill>
                <a:latin typeface="Apple SD Gothic Neo"/>
                <a:ea typeface="Apple SD Gothic Neo"/>
                <a:cs typeface="Apple SD Gothic Neo"/>
              </a:rPr>
              <a:t>450</a:t>
            </a:r>
            <a:r>
              <a:rPr sz="1600" b="1" i="0">
                <a:solidFill>
                  <a:srgbClr val="0B6E4F"/>
                </a:solidFill>
                <a:latin typeface="Apple SD Gothic Neo"/>
                <a:ea typeface="Apple SD Gothic Neo"/>
                <a:cs typeface="Apple SD Gothic Neo"/>
              </a:rPr>
              <a:t> m</a:t>
            </a:r>
          </a:p>
        </p:txBody>
      </p:sp>
      <p:sp>
        <p:nvSpPr>
          <p:cNvPr id="17" name="TextBox 16"/>
          <p:cNvSpPr txBox="1"/>
          <p:nvPr/>
        </p:nvSpPr>
        <p:spPr>
          <a:xfrm>
            <a:off x="3291840" y="5788152"/>
            <a:ext cx="1965960" cy="457200"/>
          </a:xfrm>
          <a:prstGeom prst="rect">
            <a:avLst/>
          </a:prstGeom>
          <a:noFill/>
        </p:spPr>
        <p:txBody>
          <a:bodyPr wrap="square" anchor="t" lIns="0" rIns="0" tIns="0" bIns="0">
            <a:spAutoFit/>
          </a:bodyPr>
          <a:lstStyle/>
          <a:p>
            <a:pPr algn="l"/>
            <a:r>
              <a:rPr sz="1200" b="0" i="0">
                <a:solidFill>
                  <a:srgbClr val="5B636E"/>
                </a:solidFill>
                <a:latin typeface="Apple SD Gothic Neo"/>
                <a:ea typeface="Apple SD Gothic Neo"/>
                <a:cs typeface="Apple SD Gothic Neo"/>
              </a:rPr>
              <a:t>마다 결정 지점 (구간 2 실측)</a:t>
            </a:r>
          </a:p>
        </p:txBody>
      </p:sp>
      <p:sp>
        <p:nvSpPr>
          <p:cNvPr id="18" name="stat_2"/>
          <p:cNvSpPr/>
          <p:nvPr/>
        </p:nvSpPr>
        <p:spPr>
          <a:xfrm>
            <a:off x="5577840" y="5029200"/>
            <a:ext cx="2286000" cy="128016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06440" y="5084064"/>
            <a:ext cx="1920240" cy="731520"/>
          </a:xfrm>
          <a:prstGeom prst="rect">
            <a:avLst/>
          </a:prstGeom>
          <a:noFill/>
        </p:spPr>
        <p:txBody>
          <a:bodyPr wrap="square" anchor="t" lIns="0" rIns="0" tIns="0" bIns="0">
            <a:spAutoFit/>
          </a:bodyPr>
          <a:lstStyle/>
          <a:p>
            <a:pPr algn="l"/>
            <a:r>
              <a:rPr sz="3400" b="1" i="0">
                <a:solidFill>
                  <a:srgbClr val="0B6E4F"/>
                </a:solidFill>
                <a:latin typeface="Apple SD Gothic Neo"/>
                <a:ea typeface="Apple SD Gothic Neo"/>
                <a:cs typeface="Apple SD Gothic Neo"/>
              </a:rPr>
              <a:t>2+2</a:t>
            </a:r>
            <a:r>
              <a:rPr sz="1600" b="1" i="0">
                <a:solidFill>
                  <a:srgbClr val="0B6E4F"/>
                </a:solidFill>
                <a:latin typeface="Apple SD Gothic Neo"/>
                <a:ea typeface="Apple SD Gothic Neo"/>
                <a:cs typeface="Apple SD Gothic Neo"/>
              </a:rPr>
              <a:t/>
            </a:r>
          </a:p>
        </p:txBody>
      </p:sp>
      <p:sp>
        <p:nvSpPr>
          <p:cNvPr id="20" name="TextBox 19"/>
          <p:cNvSpPr txBox="1"/>
          <p:nvPr/>
        </p:nvSpPr>
        <p:spPr>
          <a:xfrm>
            <a:off x="5806440" y="5788152"/>
            <a:ext cx="1965960" cy="457200"/>
          </a:xfrm>
          <a:prstGeom prst="rect">
            <a:avLst/>
          </a:prstGeom>
          <a:noFill/>
        </p:spPr>
        <p:txBody>
          <a:bodyPr wrap="square" anchor="t" lIns="0" rIns="0" tIns="0" bIns="0">
            <a:spAutoFit/>
          </a:bodyPr>
          <a:lstStyle/>
          <a:p>
            <a:pPr algn="l"/>
            <a:r>
              <a:rPr sz="1200" b="0" i="0">
                <a:solidFill>
                  <a:srgbClr val="5B636E"/>
                </a:solidFill>
                <a:latin typeface="Apple SD Gothic Neo"/>
                <a:ea typeface="Apple SD Gothic Neo"/>
                <a:cs typeface="Apple SD Gothic Neo"/>
              </a:rPr>
              <a:t>핵심 + 확장 구간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84048"/>
            <a:ext cx="11064240" cy="685800"/>
          </a:xfrm>
          <a:prstGeom prst="rect">
            <a:avLst/>
          </a:prstGeom>
          <a:noFill/>
        </p:spPr>
        <p:txBody>
          <a:bodyPr wrap="square" anchor="t" lIns="0" rIns="0" tIns="0" bIns="0">
            <a:spAutoFit/>
          </a:bodyPr>
          <a:lstStyle/>
          <a:p>
            <a:pPr algn="l"/>
            <a:r>
              <a:rPr sz="3200" b="1" i="0">
                <a:solidFill>
                  <a:srgbClr val="1F2328"/>
                </a:solidFill>
                <a:latin typeface="Apple SD Gothic Neo"/>
                <a:ea typeface="Apple SD Gothic Neo"/>
                <a:cs typeface="Apple SD Gothic Neo"/>
              </a:rPr>
              <a:t>핵심 2구간을 먼저, 2구간으로 확장</a:t>
            </a:r>
          </a:p>
        </p:txBody>
      </p:sp>
      <p:sp>
        <p:nvSpPr>
          <p:cNvPr id="3" name="subtitle"/>
          <p:cNvSpPr txBox="1"/>
          <p:nvPr/>
        </p:nvSpPr>
        <p:spPr>
          <a:xfrm>
            <a:off x="548640" y="1024128"/>
            <a:ext cx="11064240" cy="365760"/>
          </a:xfrm>
          <a:prstGeom prst="rect">
            <a:avLst/>
          </a:prstGeom>
          <a:noFill/>
        </p:spPr>
        <p:txBody>
          <a:bodyPr wrap="square" anchor="t" lIns="0" rIns="0" tIns="0" bIns="0">
            <a:spAutoFit/>
          </a:bodyPr>
          <a:lstStyle/>
          <a:p>
            <a:pPr algn="l"/>
            <a:r>
              <a:rPr sz="1500" b="0" i="0">
                <a:solidFill>
                  <a:srgbClr val="5B636E"/>
                </a:solidFill>
                <a:latin typeface="Apple SD Gothic Neo"/>
                <a:ea typeface="Apple SD Gothic Neo"/>
                <a:cs typeface="Apple SD Gothic Neo"/>
              </a:rPr>
              <a:t>60 km는 시연 영상으로, 학습·평가는 성격이 다른 구간에서</a:t>
            </a:r>
          </a:p>
        </p:txBody>
      </p:sp>
      <p:sp>
        <p:nvSpPr>
          <p:cNvPr id="4" name="seg_card_1"/>
          <p:cNvSpPr/>
          <p:nvPr/>
        </p:nvSpPr>
        <p:spPr>
          <a:xfrm>
            <a:off x="548640" y="1508760"/>
            <a:ext cx="2651760" cy="3886200"/>
          </a:xfrm>
          <a:prstGeom prst="roundRect">
            <a:avLst>
              <a:gd name="adj" fmla="val 4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ap_seg1.png"/>
          <p:cNvPicPr>
            <a:picLocks noChangeAspect="1"/>
          </p:cNvPicPr>
          <p:nvPr/>
        </p:nvPicPr>
        <p:blipFill>
          <a:blip r:embed="rId2"/>
          <a:stretch>
            <a:fillRect/>
          </a:stretch>
        </p:blipFill>
        <p:spPr>
          <a:xfrm>
            <a:off x="640080" y="1600200"/>
            <a:ext cx="2468879" cy="1851659"/>
          </a:xfrm>
          <a:prstGeom prst="rect">
            <a:avLst/>
          </a:prstGeom>
        </p:spPr>
      </p:pic>
      <p:sp>
        <p:nvSpPr>
          <p:cNvPr id="6" name="badge_1"/>
          <p:cNvSpPr/>
          <p:nvPr/>
        </p:nvSpPr>
        <p:spPr>
          <a:xfrm>
            <a:off x="713232" y="1691640"/>
            <a:ext cx="384048" cy="384048"/>
          </a:xfrm>
          <a:prstGeom prst="ellipse">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Apple SD Gothic Neo"/>
                <a:ea typeface="Apple SD Gothic Neo"/>
                <a:cs typeface="Apple SD Gothic Neo"/>
              </a:rPr>
              <a:t>1</a:t>
            </a:r>
          </a:p>
        </p:txBody>
      </p:sp>
      <p:sp>
        <p:nvSpPr>
          <p:cNvPr id="7" name="prio_1"/>
          <p:cNvSpPr/>
          <p:nvPr/>
        </p:nvSpPr>
        <p:spPr>
          <a:xfrm>
            <a:off x="2331720" y="1719072"/>
            <a:ext cx="685800" cy="329184"/>
          </a:xfrm>
          <a:prstGeom prst="roundRect">
            <a:avLst>
              <a:gd name="adj" fmla="val 30000"/>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31720" y="1719072"/>
            <a:ext cx="685800" cy="329184"/>
          </a:xfrm>
          <a:prstGeom prst="rect">
            <a:avLst/>
          </a:prstGeom>
          <a:noFill/>
        </p:spPr>
        <p:txBody>
          <a:bodyPr wrap="square" anchor="ctr" lIns="0" rIns="0" tIns="0" bIns="0">
            <a:spAutoFit/>
          </a:bodyPr>
          <a:lstStyle/>
          <a:p>
            <a:pPr algn="ctr"/>
            <a:r>
              <a:rPr sz="1200" b="1" i="0">
                <a:solidFill>
                  <a:srgbClr val="FFFFFF"/>
                </a:solidFill>
                <a:latin typeface="Apple SD Gothic Neo"/>
                <a:ea typeface="Apple SD Gothic Neo"/>
                <a:cs typeface="Apple SD Gothic Neo"/>
              </a:rPr>
              <a:t>확장</a:t>
            </a:r>
          </a:p>
        </p:txBody>
      </p:sp>
      <p:sp>
        <p:nvSpPr>
          <p:cNvPr id="9" name="TextBox 8"/>
          <p:cNvSpPr txBox="1"/>
          <p:nvPr/>
        </p:nvSpPr>
        <p:spPr>
          <a:xfrm>
            <a:off x="685800" y="3543300"/>
            <a:ext cx="2377440" cy="411480"/>
          </a:xfrm>
          <a:prstGeom prst="rect">
            <a:avLst/>
          </a:prstGeom>
          <a:noFill/>
        </p:spPr>
        <p:txBody>
          <a:bodyPr wrap="square" anchor="t" lIns="0" rIns="0" tIns="0" bIns="0">
            <a:spAutoFit/>
          </a:bodyPr>
          <a:lstStyle/>
          <a:p>
            <a:pPr algn="l"/>
            <a:r>
              <a:rPr sz="1700" b="1" i="0">
                <a:solidFill>
                  <a:srgbClr val="1F2328"/>
                </a:solidFill>
                <a:latin typeface="Apple SD Gothic Neo"/>
                <a:ea typeface="Apple SD Gothic Neo"/>
                <a:cs typeface="Apple SD Gothic Neo"/>
              </a:rPr>
              <a:t>출발</a:t>
            </a:r>
            <a:r>
              <a:rPr sz="1400" b="0" i="0">
                <a:solidFill>
                  <a:srgbClr val="5B636E"/>
                </a:solidFill>
                <a:latin typeface="Apple SD Gothic Neo"/>
                <a:ea typeface="Apple SD Gothic Neo"/>
                <a:cs typeface="Apple SD Gothic Neo"/>
              </a:rPr>
              <a:t>  6.2 km</a:t>
            </a:r>
          </a:p>
        </p:txBody>
      </p:sp>
      <p:sp>
        <p:nvSpPr>
          <p:cNvPr id="10" name="TextBox 9"/>
          <p:cNvSpPr txBox="1"/>
          <p:nvPr/>
        </p:nvSpPr>
        <p:spPr>
          <a:xfrm>
            <a:off x="685800" y="3927348"/>
            <a:ext cx="2377440" cy="548640"/>
          </a:xfrm>
          <a:prstGeom prst="rect">
            <a:avLst/>
          </a:prstGeom>
          <a:noFill/>
        </p:spPr>
        <p:txBody>
          <a:bodyPr wrap="square" anchor="t" lIns="0" rIns="0" tIns="0" bIns="0">
            <a:spAutoFit/>
          </a:bodyPr>
          <a:lstStyle/>
          <a:p>
            <a:pPr algn="l"/>
            <a:r>
              <a:rPr sz="1200" b="0" i="0">
                <a:solidFill>
                  <a:srgbClr val="5B636E"/>
                </a:solidFill>
                <a:latin typeface="Apple SD Gothic Neo"/>
                <a:ea typeface="Apple SD Gothic Neo"/>
                <a:cs typeface="Apple SD Gothic Neo"/>
              </a:rPr>
              <a:t>캠퍼스 → 수인로 → 수원문산고속도로</a:t>
            </a:r>
          </a:p>
        </p:txBody>
      </p:sp>
      <p:sp>
        <p:nvSpPr>
          <p:cNvPr id="11" name="TextBox 10"/>
          <p:cNvSpPr txBox="1"/>
          <p:nvPr/>
        </p:nvSpPr>
        <p:spPr>
          <a:xfrm>
            <a:off x="685800" y="4457700"/>
            <a:ext cx="2377440" cy="566928"/>
          </a:xfrm>
          <a:prstGeom prst="rect">
            <a:avLst/>
          </a:prstGeom>
          <a:noFill/>
        </p:spPr>
        <p:txBody>
          <a:bodyPr wrap="square" anchor="t" lIns="0" rIns="0" tIns="0" bIns="0">
            <a:spAutoFit/>
          </a:bodyPr>
          <a:lstStyle/>
          <a:p>
            <a:pPr algn="l"/>
            <a:r>
              <a:rPr sz="1300" b="1" i="0">
                <a:solidFill>
                  <a:srgbClr val="0B6E4F"/>
                </a:solidFill>
                <a:latin typeface="Apple SD Gothic Neo"/>
                <a:ea typeface="Apple SD Gothic Neo"/>
                <a:cs typeface="Apple SD Gothic Neo"/>
              </a:rPr>
              <a:t>· 신호 교차로</a:t>
            </a:r>
          </a:p>
          <a:p>
            <a:pPr algn="l"/>
            <a:r>
              <a:rPr sz="1300" b="1" i="0">
                <a:solidFill>
                  <a:srgbClr val="0B6E4F"/>
                </a:solidFill>
                <a:latin typeface="Apple SD Gothic Neo"/>
                <a:ea typeface="Apple SD Gothic Neo"/>
                <a:cs typeface="Apple SD Gothic Neo"/>
              </a:rPr>
              <a:t>· 진입 램프 합류</a:t>
            </a:r>
          </a:p>
        </p:txBody>
      </p:sp>
      <p:sp>
        <p:nvSpPr>
          <p:cNvPr id="12" name="TextBox 11"/>
          <p:cNvSpPr txBox="1"/>
          <p:nvPr/>
        </p:nvSpPr>
        <p:spPr>
          <a:xfrm>
            <a:off x="685800" y="5024628"/>
            <a:ext cx="2377440" cy="320040"/>
          </a:xfrm>
          <a:prstGeom prst="rect">
            <a:avLst/>
          </a:prstGeom>
          <a:noFill/>
        </p:spPr>
        <p:txBody>
          <a:bodyPr wrap="square" anchor="t" lIns="0" rIns="0" tIns="0" bIns="0">
            <a:spAutoFit/>
          </a:bodyPr>
          <a:lstStyle/>
          <a:p>
            <a:pPr algn="l"/>
            <a:r>
              <a:rPr sz="1200" b="1" i="0">
                <a:solidFill>
                  <a:srgbClr val="5B636E"/>
                </a:solidFill>
                <a:latin typeface="Apple SD Gothic Neo"/>
                <a:ea typeface="Apple SD Gothic Neo"/>
                <a:cs typeface="Apple SD Gothic Neo"/>
              </a:rPr>
              <a:t>지도 정보 10%</a:t>
            </a:r>
          </a:p>
        </p:txBody>
      </p:sp>
      <p:sp>
        <p:nvSpPr>
          <p:cNvPr id="13" name="seg_card_2"/>
          <p:cNvSpPr/>
          <p:nvPr/>
        </p:nvSpPr>
        <p:spPr>
          <a:xfrm>
            <a:off x="3383280" y="1508760"/>
            <a:ext cx="2651760" cy="3886200"/>
          </a:xfrm>
          <a:prstGeom prst="roundRect">
            <a:avLst>
              <a:gd name="adj" fmla="val 4000"/>
            </a:avLst>
          </a:prstGeom>
          <a:solidFill>
            <a:srgbClr val="FFF4D6"/>
          </a:solidFill>
          <a:ln w="12700">
            <a:solidFill>
              <a:srgbClr val="F2A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ap_seg2.png"/>
          <p:cNvPicPr>
            <a:picLocks noChangeAspect="1"/>
          </p:cNvPicPr>
          <p:nvPr/>
        </p:nvPicPr>
        <p:blipFill>
          <a:blip r:embed="rId3"/>
          <a:stretch>
            <a:fillRect/>
          </a:stretch>
        </p:blipFill>
        <p:spPr>
          <a:xfrm>
            <a:off x="3474720" y="1600200"/>
            <a:ext cx="2468879" cy="1851659"/>
          </a:xfrm>
          <a:prstGeom prst="rect">
            <a:avLst/>
          </a:prstGeom>
        </p:spPr>
      </p:pic>
      <p:sp>
        <p:nvSpPr>
          <p:cNvPr id="15" name="badge_2"/>
          <p:cNvSpPr/>
          <p:nvPr/>
        </p:nvSpPr>
        <p:spPr>
          <a:xfrm>
            <a:off x="3547872" y="1691640"/>
            <a:ext cx="384048" cy="384048"/>
          </a:xfrm>
          <a:prstGeom prst="ellipse">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1F2328"/>
                </a:solidFill>
                <a:latin typeface="Apple SD Gothic Neo"/>
                <a:ea typeface="Apple SD Gothic Neo"/>
                <a:cs typeface="Apple SD Gothic Neo"/>
              </a:rPr>
              <a:t>2</a:t>
            </a:r>
          </a:p>
        </p:txBody>
      </p:sp>
      <p:sp>
        <p:nvSpPr>
          <p:cNvPr id="16" name="prio_2"/>
          <p:cNvSpPr/>
          <p:nvPr/>
        </p:nvSpPr>
        <p:spPr>
          <a:xfrm>
            <a:off x="5166359" y="1719072"/>
            <a:ext cx="685800" cy="329184"/>
          </a:xfrm>
          <a:prstGeom prst="roundRect">
            <a:avLst>
              <a:gd name="adj" fmla="val 30000"/>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66359" y="1719072"/>
            <a:ext cx="685800" cy="329184"/>
          </a:xfrm>
          <a:prstGeom prst="rect">
            <a:avLst/>
          </a:prstGeom>
          <a:noFill/>
        </p:spPr>
        <p:txBody>
          <a:bodyPr wrap="square" anchor="ctr" lIns="0" rIns="0" tIns="0" bIns="0">
            <a:spAutoFit/>
          </a:bodyPr>
          <a:lstStyle/>
          <a:p>
            <a:pPr algn="ctr"/>
            <a:r>
              <a:rPr sz="1200" b="1" i="0">
                <a:solidFill>
                  <a:srgbClr val="1F2328"/>
                </a:solidFill>
                <a:latin typeface="Apple SD Gothic Neo"/>
                <a:ea typeface="Apple SD Gothic Neo"/>
                <a:cs typeface="Apple SD Gothic Neo"/>
              </a:rPr>
              <a:t>핵심</a:t>
            </a:r>
          </a:p>
        </p:txBody>
      </p:sp>
      <p:sp>
        <p:nvSpPr>
          <p:cNvPr id="18" name="TextBox 17"/>
          <p:cNvSpPr txBox="1"/>
          <p:nvPr/>
        </p:nvSpPr>
        <p:spPr>
          <a:xfrm>
            <a:off x="3520440" y="3543300"/>
            <a:ext cx="2377440" cy="411480"/>
          </a:xfrm>
          <a:prstGeom prst="rect">
            <a:avLst/>
          </a:prstGeom>
          <a:noFill/>
        </p:spPr>
        <p:txBody>
          <a:bodyPr wrap="square" anchor="t" lIns="0" rIns="0" tIns="0" bIns="0">
            <a:spAutoFit/>
          </a:bodyPr>
          <a:lstStyle/>
          <a:p>
            <a:pPr algn="l"/>
            <a:r>
              <a:rPr sz="1700" b="1" i="0">
                <a:solidFill>
                  <a:srgbClr val="1F2328"/>
                </a:solidFill>
                <a:latin typeface="Apple SD Gothic Neo"/>
                <a:ea typeface="Apple SD Gothic Neo"/>
                <a:cs typeface="Apple SD Gothic Neo"/>
              </a:rPr>
              <a:t>분기</a:t>
            </a:r>
            <a:r>
              <a:rPr sz="1400" b="0" i="0">
                <a:solidFill>
                  <a:srgbClr val="5B636E"/>
                </a:solidFill>
                <a:latin typeface="Apple SD Gothic Neo"/>
                <a:ea typeface="Apple SD Gothic Neo"/>
                <a:cs typeface="Apple SD Gothic Neo"/>
              </a:rPr>
              <a:t>  4.8 km</a:t>
            </a:r>
          </a:p>
        </p:txBody>
      </p:sp>
      <p:sp>
        <p:nvSpPr>
          <p:cNvPr id="19" name="TextBox 18"/>
          <p:cNvSpPr txBox="1"/>
          <p:nvPr/>
        </p:nvSpPr>
        <p:spPr>
          <a:xfrm>
            <a:off x="3520440" y="3927348"/>
            <a:ext cx="2377440" cy="548640"/>
          </a:xfrm>
          <a:prstGeom prst="rect">
            <a:avLst/>
          </a:prstGeom>
          <a:noFill/>
        </p:spPr>
        <p:txBody>
          <a:bodyPr wrap="square" anchor="t" lIns="0" rIns="0" tIns="0" bIns="0">
            <a:spAutoFit/>
          </a:bodyPr>
          <a:lstStyle/>
          <a:p>
            <a:pPr algn="l"/>
            <a:r>
              <a:rPr sz="1200" b="0" i="0">
                <a:solidFill>
                  <a:srgbClr val="5B636E"/>
                </a:solidFill>
                <a:latin typeface="Apple SD Gothic Neo"/>
                <a:ea typeface="Apple SD Gothic Neo"/>
                <a:cs typeface="Apple SD Gothic Neo"/>
              </a:rPr>
              <a:t>수원문산고속도로 → 서부간선도로 → 지하도로</a:t>
            </a:r>
          </a:p>
        </p:txBody>
      </p:sp>
      <p:sp>
        <p:nvSpPr>
          <p:cNvPr id="20" name="TextBox 19"/>
          <p:cNvSpPr txBox="1"/>
          <p:nvPr/>
        </p:nvSpPr>
        <p:spPr>
          <a:xfrm>
            <a:off x="3520440" y="4457700"/>
            <a:ext cx="2377440" cy="566928"/>
          </a:xfrm>
          <a:prstGeom prst="rect">
            <a:avLst/>
          </a:prstGeom>
          <a:noFill/>
        </p:spPr>
        <p:txBody>
          <a:bodyPr wrap="square" anchor="t" lIns="0" rIns="0" tIns="0" bIns="0">
            <a:spAutoFit/>
          </a:bodyPr>
          <a:lstStyle/>
          <a:p>
            <a:pPr algn="l"/>
            <a:r>
              <a:rPr sz="1300" b="1" i="0">
                <a:solidFill>
                  <a:srgbClr val="0B6E4F"/>
                </a:solidFill>
                <a:latin typeface="Apple SD Gothic Neo"/>
                <a:ea typeface="Apple SD Gothic Neo"/>
                <a:cs typeface="Apple SD Gothic Neo"/>
              </a:rPr>
              <a:t>· 지상·지하 갈림길</a:t>
            </a:r>
          </a:p>
          <a:p>
            <a:pPr algn="l"/>
            <a:r>
              <a:rPr sz="1300" b="1" i="0">
                <a:solidFill>
                  <a:srgbClr val="0B6E4F"/>
                </a:solidFill>
                <a:latin typeface="Apple SD Gothic Neo"/>
                <a:ea typeface="Apple SD Gothic Neo"/>
                <a:cs typeface="Apple SD Gothic Neo"/>
              </a:rPr>
              <a:t>· 차로 감소 4 → 2+2</a:t>
            </a:r>
          </a:p>
        </p:txBody>
      </p:sp>
      <p:sp>
        <p:nvSpPr>
          <p:cNvPr id="21" name="TextBox 20"/>
          <p:cNvSpPr txBox="1"/>
          <p:nvPr/>
        </p:nvSpPr>
        <p:spPr>
          <a:xfrm>
            <a:off x="3520440" y="5024628"/>
            <a:ext cx="2377440" cy="320040"/>
          </a:xfrm>
          <a:prstGeom prst="rect">
            <a:avLst/>
          </a:prstGeom>
          <a:noFill/>
        </p:spPr>
        <p:txBody>
          <a:bodyPr wrap="square" anchor="t" lIns="0" rIns="0" tIns="0" bIns="0">
            <a:spAutoFit/>
          </a:bodyPr>
          <a:lstStyle/>
          <a:p>
            <a:pPr algn="l"/>
            <a:r>
              <a:rPr sz="1200" b="1" i="0">
                <a:solidFill>
                  <a:srgbClr val="F2A900"/>
                </a:solidFill>
                <a:latin typeface="Apple SD Gothic Neo"/>
                <a:ea typeface="Apple SD Gothic Neo"/>
                <a:cs typeface="Apple SD Gothic Neo"/>
              </a:rPr>
              <a:t>SUMO 변환 완료</a:t>
            </a:r>
          </a:p>
        </p:txBody>
      </p:sp>
      <p:sp>
        <p:nvSpPr>
          <p:cNvPr id="22" name="seg_card_3"/>
          <p:cNvSpPr/>
          <p:nvPr/>
        </p:nvSpPr>
        <p:spPr>
          <a:xfrm>
            <a:off x="6217920" y="1508760"/>
            <a:ext cx="2651760" cy="3886200"/>
          </a:xfrm>
          <a:prstGeom prst="roundRect">
            <a:avLst>
              <a:gd name="adj" fmla="val 4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map_seg3.png"/>
          <p:cNvPicPr>
            <a:picLocks noChangeAspect="1"/>
          </p:cNvPicPr>
          <p:nvPr/>
        </p:nvPicPr>
        <p:blipFill>
          <a:blip r:embed="rId4"/>
          <a:stretch>
            <a:fillRect/>
          </a:stretch>
        </p:blipFill>
        <p:spPr>
          <a:xfrm>
            <a:off x="6309359" y="1600200"/>
            <a:ext cx="2468879" cy="1851659"/>
          </a:xfrm>
          <a:prstGeom prst="rect">
            <a:avLst/>
          </a:prstGeom>
        </p:spPr>
      </p:pic>
      <p:sp>
        <p:nvSpPr>
          <p:cNvPr id="24" name="badge_3"/>
          <p:cNvSpPr/>
          <p:nvPr/>
        </p:nvSpPr>
        <p:spPr>
          <a:xfrm>
            <a:off x="6382512" y="1691640"/>
            <a:ext cx="384048" cy="384048"/>
          </a:xfrm>
          <a:prstGeom prst="ellipse">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Apple SD Gothic Neo"/>
                <a:ea typeface="Apple SD Gothic Neo"/>
                <a:cs typeface="Apple SD Gothic Neo"/>
              </a:rPr>
              <a:t>3</a:t>
            </a:r>
          </a:p>
        </p:txBody>
      </p:sp>
      <p:sp>
        <p:nvSpPr>
          <p:cNvPr id="25" name="prio_3"/>
          <p:cNvSpPr/>
          <p:nvPr/>
        </p:nvSpPr>
        <p:spPr>
          <a:xfrm>
            <a:off x="8001000" y="1719072"/>
            <a:ext cx="685800" cy="329184"/>
          </a:xfrm>
          <a:prstGeom prst="roundRect">
            <a:avLst>
              <a:gd name="adj" fmla="val 30000"/>
            </a:avLst>
          </a:prstGeom>
          <a:solidFill>
            <a:srgbClr val="8A9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01000" y="1719072"/>
            <a:ext cx="685800" cy="329184"/>
          </a:xfrm>
          <a:prstGeom prst="rect">
            <a:avLst/>
          </a:prstGeom>
          <a:noFill/>
        </p:spPr>
        <p:txBody>
          <a:bodyPr wrap="square" anchor="ctr" lIns="0" rIns="0" tIns="0" bIns="0">
            <a:spAutoFit/>
          </a:bodyPr>
          <a:lstStyle/>
          <a:p>
            <a:pPr algn="ctr"/>
            <a:r>
              <a:rPr sz="1200" b="1" i="0">
                <a:solidFill>
                  <a:srgbClr val="FFFFFF"/>
                </a:solidFill>
                <a:latin typeface="Apple SD Gothic Neo"/>
                <a:ea typeface="Apple SD Gothic Neo"/>
                <a:cs typeface="Apple SD Gothic Neo"/>
              </a:rPr>
              <a:t>확장</a:t>
            </a:r>
          </a:p>
        </p:txBody>
      </p:sp>
      <p:sp>
        <p:nvSpPr>
          <p:cNvPr id="27" name="TextBox 26"/>
          <p:cNvSpPr txBox="1"/>
          <p:nvPr/>
        </p:nvSpPr>
        <p:spPr>
          <a:xfrm>
            <a:off x="6355080" y="3543300"/>
            <a:ext cx="2377440" cy="411480"/>
          </a:xfrm>
          <a:prstGeom prst="rect">
            <a:avLst/>
          </a:prstGeom>
          <a:noFill/>
        </p:spPr>
        <p:txBody>
          <a:bodyPr wrap="square" anchor="t" lIns="0" rIns="0" tIns="0" bIns="0">
            <a:spAutoFit/>
          </a:bodyPr>
          <a:lstStyle/>
          <a:p>
            <a:pPr algn="l"/>
            <a:r>
              <a:rPr sz="1700" b="1" i="0">
                <a:solidFill>
                  <a:srgbClr val="1F2328"/>
                </a:solidFill>
                <a:latin typeface="Apple SD Gothic Neo"/>
                <a:ea typeface="Apple SD Gothic Neo"/>
                <a:cs typeface="Apple SD Gothic Neo"/>
              </a:rPr>
              <a:t>한강</a:t>
            </a:r>
            <a:r>
              <a:rPr sz="1400" b="0" i="0">
                <a:solidFill>
                  <a:srgbClr val="5B636E"/>
                </a:solidFill>
                <a:latin typeface="Apple SD Gothic Neo"/>
                <a:ea typeface="Apple SD Gothic Neo"/>
                <a:cs typeface="Apple SD Gothic Neo"/>
              </a:rPr>
              <a:t>  7.5 km</a:t>
            </a:r>
          </a:p>
        </p:txBody>
      </p:sp>
      <p:sp>
        <p:nvSpPr>
          <p:cNvPr id="28" name="TextBox 27"/>
          <p:cNvSpPr txBox="1"/>
          <p:nvPr/>
        </p:nvSpPr>
        <p:spPr>
          <a:xfrm>
            <a:off x="6355080" y="3927348"/>
            <a:ext cx="2377440" cy="548640"/>
          </a:xfrm>
          <a:prstGeom prst="rect">
            <a:avLst/>
          </a:prstGeom>
          <a:noFill/>
        </p:spPr>
        <p:txBody>
          <a:bodyPr wrap="square" anchor="t" lIns="0" rIns="0" tIns="0" bIns="0">
            <a:spAutoFit/>
          </a:bodyPr>
          <a:lstStyle/>
          <a:p>
            <a:pPr algn="l"/>
            <a:r>
              <a:rPr sz="1200" b="0" i="0">
                <a:solidFill>
                  <a:srgbClr val="5B636E"/>
                </a:solidFill>
                <a:latin typeface="Apple SD Gothic Neo"/>
                <a:ea typeface="Apple SD Gothic Neo"/>
                <a:cs typeface="Apple SD Gothic Neo"/>
              </a:rPr>
              <a:t>서부간선로 → 성산대교 → 강변북로 → 자유로</a:t>
            </a:r>
          </a:p>
        </p:txBody>
      </p:sp>
      <p:sp>
        <p:nvSpPr>
          <p:cNvPr id="29" name="TextBox 28"/>
          <p:cNvSpPr txBox="1"/>
          <p:nvPr/>
        </p:nvSpPr>
        <p:spPr>
          <a:xfrm>
            <a:off x="6355080" y="4457700"/>
            <a:ext cx="2377440" cy="566928"/>
          </a:xfrm>
          <a:prstGeom prst="rect">
            <a:avLst/>
          </a:prstGeom>
          <a:noFill/>
        </p:spPr>
        <p:txBody>
          <a:bodyPr wrap="square" anchor="t" lIns="0" rIns="0" tIns="0" bIns="0">
            <a:spAutoFit/>
          </a:bodyPr>
          <a:lstStyle/>
          <a:p>
            <a:pPr algn="l"/>
            <a:r>
              <a:rPr sz="1300" b="1" i="0">
                <a:solidFill>
                  <a:srgbClr val="0B6E4F"/>
                </a:solidFill>
                <a:latin typeface="Apple SD Gothic Neo"/>
                <a:ea typeface="Apple SD Gothic Neo"/>
                <a:cs typeface="Apple SD Gothic Neo"/>
              </a:rPr>
              <a:t>· 한강 횡단</a:t>
            </a:r>
          </a:p>
          <a:p>
            <a:pPr algn="l"/>
            <a:r>
              <a:rPr sz="1300" b="1" i="0">
                <a:solidFill>
                  <a:srgbClr val="0B6E4F"/>
                </a:solidFill>
                <a:latin typeface="Apple SD Gothic Neo"/>
                <a:ea typeface="Apple SD Gothic Neo"/>
                <a:cs typeface="Apple SD Gothic Neo"/>
              </a:rPr>
              <a:t>· 합류·진출 엇갈림</a:t>
            </a:r>
          </a:p>
        </p:txBody>
      </p:sp>
      <p:sp>
        <p:nvSpPr>
          <p:cNvPr id="30" name="TextBox 29"/>
          <p:cNvSpPr txBox="1"/>
          <p:nvPr/>
        </p:nvSpPr>
        <p:spPr>
          <a:xfrm>
            <a:off x="6355080" y="5024628"/>
            <a:ext cx="2377440" cy="320040"/>
          </a:xfrm>
          <a:prstGeom prst="rect">
            <a:avLst/>
          </a:prstGeom>
          <a:noFill/>
        </p:spPr>
        <p:txBody>
          <a:bodyPr wrap="square" anchor="t" lIns="0" rIns="0" tIns="0" bIns="0">
            <a:spAutoFit/>
          </a:bodyPr>
          <a:lstStyle/>
          <a:p>
            <a:pPr algn="l"/>
            <a:r>
              <a:rPr sz="1200" b="1" i="0">
                <a:solidFill>
                  <a:srgbClr val="5B636E"/>
                </a:solidFill>
                <a:latin typeface="Apple SD Gothic Neo"/>
                <a:ea typeface="Apple SD Gothic Neo"/>
                <a:cs typeface="Apple SD Gothic Neo"/>
              </a:rPr>
              <a:t>지도 정보 64%</a:t>
            </a:r>
          </a:p>
        </p:txBody>
      </p:sp>
      <p:sp>
        <p:nvSpPr>
          <p:cNvPr id="31" name="seg_card_4"/>
          <p:cNvSpPr/>
          <p:nvPr/>
        </p:nvSpPr>
        <p:spPr>
          <a:xfrm>
            <a:off x="9052560" y="1508760"/>
            <a:ext cx="2651760" cy="3886200"/>
          </a:xfrm>
          <a:prstGeom prst="roundRect">
            <a:avLst>
              <a:gd name="adj" fmla="val 4000"/>
            </a:avLst>
          </a:prstGeom>
          <a:solidFill>
            <a:srgbClr val="FFF4D6"/>
          </a:solidFill>
          <a:ln w="12700">
            <a:solidFill>
              <a:srgbClr val="F2A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map_seg4.png"/>
          <p:cNvPicPr>
            <a:picLocks noChangeAspect="1"/>
          </p:cNvPicPr>
          <p:nvPr/>
        </p:nvPicPr>
        <p:blipFill>
          <a:blip r:embed="rId5"/>
          <a:stretch>
            <a:fillRect/>
          </a:stretch>
        </p:blipFill>
        <p:spPr>
          <a:xfrm>
            <a:off x="9144000" y="1600200"/>
            <a:ext cx="2468879" cy="1851659"/>
          </a:xfrm>
          <a:prstGeom prst="rect">
            <a:avLst/>
          </a:prstGeom>
        </p:spPr>
      </p:pic>
      <p:sp>
        <p:nvSpPr>
          <p:cNvPr id="33" name="badge_4"/>
          <p:cNvSpPr/>
          <p:nvPr/>
        </p:nvSpPr>
        <p:spPr>
          <a:xfrm>
            <a:off x="9217152" y="1691640"/>
            <a:ext cx="384048" cy="384048"/>
          </a:xfrm>
          <a:prstGeom prst="ellipse">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1F2328"/>
                </a:solidFill>
                <a:latin typeface="Apple SD Gothic Neo"/>
                <a:ea typeface="Apple SD Gothic Neo"/>
                <a:cs typeface="Apple SD Gothic Neo"/>
              </a:rPr>
              <a:t>4</a:t>
            </a:r>
          </a:p>
        </p:txBody>
      </p:sp>
      <p:sp>
        <p:nvSpPr>
          <p:cNvPr id="34" name="prio_4"/>
          <p:cNvSpPr/>
          <p:nvPr/>
        </p:nvSpPr>
        <p:spPr>
          <a:xfrm>
            <a:off x="10835640" y="1719072"/>
            <a:ext cx="685800" cy="329184"/>
          </a:xfrm>
          <a:prstGeom prst="roundRect">
            <a:avLst>
              <a:gd name="adj" fmla="val 30000"/>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835640" y="1719072"/>
            <a:ext cx="685800" cy="329184"/>
          </a:xfrm>
          <a:prstGeom prst="rect">
            <a:avLst/>
          </a:prstGeom>
          <a:noFill/>
        </p:spPr>
        <p:txBody>
          <a:bodyPr wrap="square" anchor="ctr" lIns="0" rIns="0" tIns="0" bIns="0">
            <a:spAutoFit/>
          </a:bodyPr>
          <a:lstStyle/>
          <a:p>
            <a:pPr algn="ctr"/>
            <a:r>
              <a:rPr sz="1200" b="1" i="0">
                <a:solidFill>
                  <a:srgbClr val="1F2328"/>
                </a:solidFill>
                <a:latin typeface="Apple SD Gothic Neo"/>
                <a:ea typeface="Apple SD Gothic Neo"/>
                <a:cs typeface="Apple SD Gothic Neo"/>
              </a:rPr>
              <a:t>핵심</a:t>
            </a:r>
          </a:p>
        </p:txBody>
      </p:sp>
      <p:sp>
        <p:nvSpPr>
          <p:cNvPr id="36" name="TextBox 35"/>
          <p:cNvSpPr txBox="1"/>
          <p:nvPr/>
        </p:nvSpPr>
        <p:spPr>
          <a:xfrm>
            <a:off x="9189720" y="3543300"/>
            <a:ext cx="2377440" cy="411480"/>
          </a:xfrm>
          <a:prstGeom prst="rect">
            <a:avLst/>
          </a:prstGeom>
          <a:noFill/>
        </p:spPr>
        <p:txBody>
          <a:bodyPr wrap="square" anchor="t" lIns="0" rIns="0" tIns="0" bIns="0">
            <a:spAutoFit/>
          </a:bodyPr>
          <a:lstStyle/>
          <a:p>
            <a:pPr algn="l"/>
            <a:r>
              <a:rPr sz="1700" b="1" i="0">
                <a:solidFill>
                  <a:srgbClr val="1F2328"/>
                </a:solidFill>
                <a:latin typeface="Apple SD Gothic Neo"/>
                <a:ea typeface="Apple SD Gothic Neo"/>
                <a:cs typeface="Apple SD Gothic Neo"/>
              </a:rPr>
              <a:t>도착</a:t>
            </a:r>
            <a:r>
              <a:rPr sz="1400" b="0" i="0">
                <a:solidFill>
                  <a:srgbClr val="5B636E"/>
                </a:solidFill>
                <a:latin typeface="Apple SD Gothic Neo"/>
                <a:ea typeface="Apple SD Gothic Neo"/>
                <a:cs typeface="Apple SD Gothic Neo"/>
              </a:rPr>
              <a:t>  3.6 km</a:t>
            </a:r>
          </a:p>
        </p:txBody>
      </p:sp>
      <p:sp>
        <p:nvSpPr>
          <p:cNvPr id="37" name="TextBox 36"/>
          <p:cNvSpPr txBox="1"/>
          <p:nvPr/>
        </p:nvSpPr>
        <p:spPr>
          <a:xfrm>
            <a:off x="9189720" y="3927348"/>
            <a:ext cx="2377440" cy="548640"/>
          </a:xfrm>
          <a:prstGeom prst="rect">
            <a:avLst/>
          </a:prstGeom>
          <a:noFill/>
        </p:spPr>
        <p:txBody>
          <a:bodyPr wrap="square" anchor="t" lIns="0" rIns="0" tIns="0" bIns="0">
            <a:spAutoFit/>
          </a:bodyPr>
          <a:lstStyle/>
          <a:p>
            <a:pPr algn="l"/>
            <a:r>
              <a:rPr sz="1200" b="0" i="0">
                <a:solidFill>
                  <a:srgbClr val="5B636E"/>
                </a:solidFill>
                <a:latin typeface="Apple SD Gothic Neo"/>
                <a:ea typeface="Apple SD Gothic Neo"/>
                <a:cs typeface="Apple SD Gothic Neo"/>
              </a:rPr>
              <a:t>자유로 → 진출 램프 → 킨텍스로</a:t>
            </a:r>
          </a:p>
        </p:txBody>
      </p:sp>
      <p:sp>
        <p:nvSpPr>
          <p:cNvPr id="38" name="TextBox 37"/>
          <p:cNvSpPr txBox="1"/>
          <p:nvPr/>
        </p:nvSpPr>
        <p:spPr>
          <a:xfrm>
            <a:off x="9189720" y="4457700"/>
            <a:ext cx="2377440" cy="566928"/>
          </a:xfrm>
          <a:prstGeom prst="rect">
            <a:avLst/>
          </a:prstGeom>
          <a:noFill/>
        </p:spPr>
        <p:txBody>
          <a:bodyPr wrap="square" anchor="t" lIns="0" rIns="0" tIns="0" bIns="0">
            <a:spAutoFit/>
          </a:bodyPr>
          <a:lstStyle/>
          <a:p>
            <a:pPr algn="l"/>
            <a:r>
              <a:rPr sz="1300" b="1" i="0">
                <a:solidFill>
                  <a:srgbClr val="0B6E4F"/>
                </a:solidFill>
                <a:latin typeface="Apple SD Gothic Neo"/>
                <a:ea typeface="Apple SD Gothic Neo"/>
                <a:cs typeface="Apple SD Gothic Neo"/>
              </a:rPr>
              <a:t>· 출구 차선 확보</a:t>
            </a:r>
          </a:p>
          <a:p>
            <a:pPr algn="l"/>
            <a:r>
              <a:rPr sz="1300" b="1" i="0">
                <a:solidFill>
                  <a:srgbClr val="0B6E4F"/>
                </a:solidFill>
                <a:latin typeface="Apple SD Gothic Neo"/>
                <a:ea typeface="Apple SD Gothic Neo"/>
                <a:cs typeface="Apple SD Gothic Neo"/>
              </a:rPr>
              <a:t>· 신호 교차로, 목적지</a:t>
            </a:r>
          </a:p>
        </p:txBody>
      </p:sp>
      <p:sp>
        <p:nvSpPr>
          <p:cNvPr id="39" name="TextBox 38"/>
          <p:cNvSpPr txBox="1"/>
          <p:nvPr/>
        </p:nvSpPr>
        <p:spPr>
          <a:xfrm>
            <a:off x="9189720" y="5024628"/>
            <a:ext cx="2377440" cy="320040"/>
          </a:xfrm>
          <a:prstGeom prst="rect">
            <a:avLst/>
          </a:prstGeom>
          <a:noFill/>
        </p:spPr>
        <p:txBody>
          <a:bodyPr wrap="square" anchor="t" lIns="0" rIns="0" tIns="0" bIns="0">
            <a:spAutoFit/>
          </a:bodyPr>
          <a:lstStyle/>
          <a:p>
            <a:pPr algn="l"/>
            <a:r>
              <a:rPr sz="1200" b="1" i="0">
                <a:solidFill>
                  <a:srgbClr val="5B636E"/>
                </a:solidFill>
                <a:latin typeface="Apple SD Gothic Neo"/>
                <a:ea typeface="Apple SD Gothic Neo"/>
                <a:cs typeface="Apple SD Gothic Neo"/>
              </a:rPr>
              <a:t>지도 정보 69%</a:t>
            </a:r>
          </a:p>
        </p:txBody>
      </p:sp>
      <p:sp>
        <p:nvSpPr>
          <p:cNvPr id="40" name="step_1"/>
          <p:cNvSpPr/>
          <p:nvPr/>
        </p:nvSpPr>
        <p:spPr>
          <a:xfrm>
            <a:off x="548640" y="5596128"/>
            <a:ext cx="1783080" cy="749808"/>
          </a:xfrm>
          <a:prstGeom prst="roundRect">
            <a:avLst>
              <a:gd name="adj" fmla="val 12000"/>
            </a:avLst>
          </a:prstGeom>
          <a:solidFill>
            <a:srgbClr val="FFFFFF"/>
          </a:solidFill>
          <a:ln w="12700">
            <a:solidFill>
              <a:srgbClr val="D5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5596128"/>
            <a:ext cx="1783080" cy="749808"/>
          </a:xfrm>
          <a:prstGeom prst="rect">
            <a:avLst/>
          </a:prstGeom>
          <a:noFill/>
        </p:spPr>
        <p:txBody>
          <a:bodyPr wrap="square" anchor="ctr" lIns="0" rIns="0" tIns="0" bIns="0">
            <a:spAutoFit/>
          </a:bodyPr>
          <a:lstStyle/>
          <a:p>
            <a:pPr algn="ctr"/>
            <a:r>
              <a:rPr sz="1300" b="1" i="0">
                <a:solidFill>
                  <a:srgbClr val="1F2328"/>
                </a:solidFill>
                <a:latin typeface="Apple SD Gothic Neo"/>
                <a:ea typeface="Apple SD Gothic Neo"/>
                <a:cs typeface="Apple SD Gothic Neo"/>
              </a:rPr>
              <a:t>OpenStreetMap
지도 받기</a:t>
            </a:r>
          </a:p>
        </p:txBody>
      </p:sp>
      <p:sp>
        <p:nvSpPr>
          <p:cNvPr id="42" name="Right Arrow 41"/>
          <p:cNvSpPr/>
          <p:nvPr/>
        </p:nvSpPr>
        <p:spPr>
          <a:xfrm>
            <a:off x="2359151" y="5852160"/>
            <a:ext cx="173736" cy="228600"/>
          </a:xfrm>
          <a:prstGeom prst="rightArrow">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step_2"/>
          <p:cNvSpPr/>
          <p:nvPr/>
        </p:nvSpPr>
        <p:spPr>
          <a:xfrm>
            <a:off x="2560320" y="5596128"/>
            <a:ext cx="1783080" cy="749808"/>
          </a:xfrm>
          <a:prstGeom prst="roundRect">
            <a:avLst>
              <a:gd name="adj" fmla="val 12000"/>
            </a:avLst>
          </a:prstGeom>
          <a:solidFill>
            <a:srgbClr val="FFFFFF"/>
          </a:solidFill>
          <a:ln w="12700">
            <a:solidFill>
              <a:srgbClr val="D5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560320" y="5596128"/>
            <a:ext cx="1783080" cy="749808"/>
          </a:xfrm>
          <a:prstGeom prst="rect">
            <a:avLst/>
          </a:prstGeom>
          <a:noFill/>
        </p:spPr>
        <p:txBody>
          <a:bodyPr wrap="square" anchor="ctr" lIns="0" rIns="0" tIns="0" bIns="0">
            <a:spAutoFit/>
          </a:bodyPr>
          <a:lstStyle/>
          <a:p>
            <a:pPr algn="ctr"/>
            <a:r>
              <a:rPr sz="1300" b="1" i="0">
                <a:solidFill>
                  <a:srgbClr val="1F2328"/>
                </a:solidFill>
                <a:latin typeface="Apple SD Gothic Neo"/>
                <a:ea typeface="Apple SD Gothic Neo"/>
                <a:cs typeface="Apple SD Gothic Neo"/>
              </a:rPr>
              <a:t>SUMO 도로로
변환</a:t>
            </a:r>
          </a:p>
        </p:txBody>
      </p:sp>
      <p:sp>
        <p:nvSpPr>
          <p:cNvPr id="45" name="Right Arrow 44"/>
          <p:cNvSpPr/>
          <p:nvPr/>
        </p:nvSpPr>
        <p:spPr>
          <a:xfrm>
            <a:off x="4370832" y="5852160"/>
            <a:ext cx="173736" cy="228600"/>
          </a:xfrm>
          <a:prstGeom prst="rightArrow">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step_3"/>
          <p:cNvSpPr/>
          <p:nvPr/>
        </p:nvSpPr>
        <p:spPr>
          <a:xfrm>
            <a:off x="4572000" y="5596128"/>
            <a:ext cx="1783080" cy="749808"/>
          </a:xfrm>
          <a:prstGeom prst="roundRect">
            <a:avLst>
              <a:gd name="adj" fmla="val 12000"/>
            </a:avLst>
          </a:prstGeom>
          <a:solidFill>
            <a:srgbClr val="FFFFFF"/>
          </a:solidFill>
          <a:ln w="12700">
            <a:solidFill>
              <a:srgbClr val="D5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0" y="5596128"/>
            <a:ext cx="1783080" cy="749808"/>
          </a:xfrm>
          <a:prstGeom prst="rect">
            <a:avLst/>
          </a:prstGeom>
          <a:noFill/>
        </p:spPr>
        <p:txBody>
          <a:bodyPr wrap="square" anchor="ctr" lIns="0" rIns="0" tIns="0" bIns="0">
            <a:spAutoFit/>
          </a:bodyPr>
          <a:lstStyle/>
          <a:p>
            <a:pPr algn="ctr"/>
            <a:r>
              <a:rPr sz="1300" b="1" i="0">
                <a:solidFill>
                  <a:srgbClr val="1F2328"/>
                </a:solidFill>
                <a:latin typeface="Apple SD Gothic Neo"/>
                <a:ea typeface="Apple SD Gothic Neo"/>
                <a:cs typeface="Apple SD Gothic Neo"/>
              </a:rPr>
              <a:t>로드뷰로 차선·
신호 보정</a:t>
            </a:r>
          </a:p>
        </p:txBody>
      </p:sp>
      <p:sp>
        <p:nvSpPr>
          <p:cNvPr id="48" name="Right Arrow 47"/>
          <p:cNvSpPr/>
          <p:nvPr/>
        </p:nvSpPr>
        <p:spPr>
          <a:xfrm>
            <a:off x="6382512" y="5852160"/>
            <a:ext cx="173736" cy="228600"/>
          </a:xfrm>
          <a:prstGeom prst="rightArrow">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step_4"/>
          <p:cNvSpPr/>
          <p:nvPr/>
        </p:nvSpPr>
        <p:spPr>
          <a:xfrm>
            <a:off x="6583680" y="5596128"/>
            <a:ext cx="1783080" cy="749808"/>
          </a:xfrm>
          <a:prstGeom prst="roundRect">
            <a:avLst>
              <a:gd name="adj" fmla="val 12000"/>
            </a:avLst>
          </a:prstGeom>
          <a:solidFill>
            <a:srgbClr val="FFFFFF"/>
          </a:solidFill>
          <a:ln w="12700">
            <a:solidFill>
              <a:srgbClr val="D5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0" y="5596128"/>
            <a:ext cx="1783080" cy="749808"/>
          </a:xfrm>
          <a:prstGeom prst="rect">
            <a:avLst/>
          </a:prstGeom>
          <a:noFill/>
        </p:spPr>
        <p:txBody>
          <a:bodyPr wrap="square" anchor="ctr" lIns="0" rIns="0" tIns="0" bIns="0">
            <a:spAutoFit/>
          </a:bodyPr>
          <a:lstStyle/>
          <a:p>
            <a:pPr algn="ctr"/>
            <a:r>
              <a:rPr sz="1300" b="1" i="0">
                <a:solidFill>
                  <a:srgbClr val="1F2328"/>
                </a:solidFill>
                <a:latin typeface="Apple SD Gothic Neo"/>
                <a:ea typeface="Apple SD Gothic Neo"/>
                <a:cs typeface="Apple SD Gothic Neo"/>
              </a:rPr>
              <a:t>구간별 학습·
평가</a:t>
            </a:r>
          </a:p>
        </p:txBody>
      </p:sp>
      <p:sp>
        <p:nvSpPr>
          <p:cNvPr id="51" name="evidence"/>
          <p:cNvSpPr/>
          <p:nvPr/>
        </p:nvSpPr>
        <p:spPr>
          <a:xfrm>
            <a:off x="8686800" y="5596128"/>
            <a:ext cx="2926079" cy="749808"/>
          </a:xfrm>
          <a:prstGeom prst="roundRect">
            <a:avLst>
              <a:gd name="adj" fmla="val 12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869680" y="5596128"/>
            <a:ext cx="2651759" cy="749808"/>
          </a:xfrm>
          <a:prstGeom prst="rect">
            <a:avLst/>
          </a:prstGeom>
          <a:noFill/>
        </p:spPr>
        <p:txBody>
          <a:bodyPr wrap="square" anchor="ctr" lIns="0" rIns="0" tIns="0" bIns="0">
            <a:spAutoFit/>
          </a:bodyPr>
          <a:lstStyle/>
          <a:p>
            <a:pPr algn="l"/>
            <a:r>
              <a:rPr sz="1200" b="1" i="0">
                <a:solidFill>
                  <a:srgbClr val="0B6E4F"/>
                </a:solidFill>
                <a:latin typeface="Apple SD Gothic Neo"/>
                <a:ea typeface="Apple SD Gothic Neo"/>
                <a:cs typeface="Apple SD Gothic Neo"/>
              </a:rPr>
              <a:t>구간 2 시험  </a:t>
            </a:r>
            <a:r>
              <a:rPr sz="1200" b="0" i="0">
                <a:solidFill>
                  <a:srgbClr val="1F2328"/>
                </a:solidFill>
                <a:latin typeface="Apple SD Gothic Neo"/>
                <a:ea typeface="Apple SD Gothic Neo"/>
                <a:cs typeface="Apple SD Gothic Neo"/>
              </a:rPr>
              <a:t>4.92 km 연결, 150대 완주</a:t>
            </a:r>
          </a:p>
          <a:p>
            <a:pPr algn="l"/>
            <a:r>
              <a:rPr sz="1200" b="0" i="0">
                <a:solidFill>
                  <a:srgbClr val="1F2328"/>
                </a:solidFill>
                <a:latin typeface="Apple SD Gothic Neo"/>
                <a:ea typeface="Apple SD Gothic Neo"/>
                <a:cs typeface="Apple SD Gothic Neo"/>
              </a:rPr>
              <a:t>정체 1곳 발견 → 신호 보정 예정</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84048"/>
            <a:ext cx="11064240" cy="685800"/>
          </a:xfrm>
          <a:prstGeom prst="rect">
            <a:avLst/>
          </a:prstGeom>
          <a:noFill/>
        </p:spPr>
        <p:txBody>
          <a:bodyPr wrap="square" anchor="t" lIns="0" rIns="0" tIns="0" bIns="0">
            <a:spAutoFit/>
          </a:bodyPr>
          <a:lstStyle/>
          <a:p>
            <a:pPr algn="l"/>
            <a:r>
              <a:rPr sz="3200" b="1" i="0">
                <a:solidFill>
                  <a:srgbClr val="1F2328"/>
                </a:solidFill>
                <a:latin typeface="Apple SD Gothic Neo"/>
                <a:ea typeface="Apple SD Gothic Neo"/>
                <a:cs typeface="Apple SD Gothic Neo"/>
              </a:rPr>
              <a:t>도로 구조가 AV의 결정을 만든다</a:t>
            </a:r>
          </a:p>
        </p:txBody>
      </p:sp>
      <p:sp>
        <p:nvSpPr>
          <p:cNvPr id="3" name="subtitle"/>
          <p:cNvSpPr txBox="1"/>
          <p:nvPr/>
        </p:nvSpPr>
        <p:spPr>
          <a:xfrm>
            <a:off x="548640" y="1024128"/>
            <a:ext cx="11064240" cy="365760"/>
          </a:xfrm>
          <a:prstGeom prst="rect">
            <a:avLst/>
          </a:prstGeom>
          <a:noFill/>
        </p:spPr>
        <p:txBody>
          <a:bodyPr wrap="square" anchor="t" lIns="0" rIns="0" tIns="0" bIns="0">
            <a:spAutoFit/>
          </a:bodyPr>
          <a:lstStyle/>
          <a:p>
            <a:pPr algn="l"/>
            <a:r>
              <a:rPr sz="1500" b="0" i="0">
                <a:solidFill>
                  <a:srgbClr val="5B636E"/>
                </a:solidFill>
                <a:latin typeface="Apple SD Gothic Neo"/>
                <a:ea typeface="Apple SD Gothic Neo"/>
                <a:cs typeface="Apple SD Gothic Neo"/>
              </a:rPr>
              <a:t>구조  →  일반 차량과의 상호작용  →  AV가 내려야 하는 결정</a:t>
            </a:r>
          </a:p>
        </p:txBody>
      </p:sp>
      <p:sp>
        <p:nvSpPr>
          <p:cNvPr id="4" name="TextBox 3"/>
          <p:cNvSpPr txBox="1"/>
          <p:nvPr/>
        </p:nvSpPr>
        <p:spPr>
          <a:xfrm>
            <a:off x="731520" y="1481328"/>
            <a:ext cx="3520440" cy="365760"/>
          </a:xfrm>
          <a:prstGeom prst="rect">
            <a:avLst/>
          </a:prstGeom>
          <a:noFill/>
        </p:spPr>
        <p:txBody>
          <a:bodyPr wrap="square" anchor="t" lIns="0" rIns="0" tIns="0" bIns="0">
            <a:spAutoFit/>
          </a:bodyPr>
          <a:lstStyle/>
          <a:p>
            <a:pPr algn="l"/>
            <a:r>
              <a:rPr sz="1500" b="1" i="0">
                <a:solidFill>
                  <a:srgbClr val="0B6E4F"/>
                </a:solidFill>
                <a:latin typeface="Apple SD Gothic Neo"/>
                <a:ea typeface="Apple SD Gothic Neo"/>
                <a:cs typeface="Apple SD Gothic Neo"/>
              </a:rPr>
              <a:t>도로 구조</a:t>
            </a:r>
          </a:p>
        </p:txBody>
      </p:sp>
      <p:sp>
        <p:nvSpPr>
          <p:cNvPr id="5" name="TextBox 4"/>
          <p:cNvSpPr txBox="1"/>
          <p:nvPr/>
        </p:nvSpPr>
        <p:spPr>
          <a:xfrm>
            <a:off x="4526280" y="1481328"/>
            <a:ext cx="3520440" cy="365760"/>
          </a:xfrm>
          <a:prstGeom prst="rect">
            <a:avLst/>
          </a:prstGeom>
          <a:noFill/>
        </p:spPr>
        <p:txBody>
          <a:bodyPr wrap="square" anchor="t" lIns="0" rIns="0" tIns="0" bIns="0">
            <a:spAutoFit/>
          </a:bodyPr>
          <a:lstStyle/>
          <a:p>
            <a:pPr algn="l"/>
            <a:r>
              <a:rPr sz="1500" b="1" i="0">
                <a:solidFill>
                  <a:srgbClr val="0B6E4F"/>
                </a:solidFill>
                <a:latin typeface="Apple SD Gothic Neo"/>
                <a:ea typeface="Apple SD Gothic Neo"/>
                <a:cs typeface="Apple SD Gothic Neo"/>
              </a:rPr>
              <a:t>일반 차량과의 상호작용</a:t>
            </a:r>
          </a:p>
        </p:txBody>
      </p:sp>
      <p:sp>
        <p:nvSpPr>
          <p:cNvPr id="6" name="TextBox 5"/>
          <p:cNvSpPr txBox="1"/>
          <p:nvPr/>
        </p:nvSpPr>
        <p:spPr>
          <a:xfrm>
            <a:off x="8321040" y="1481328"/>
            <a:ext cx="3520440" cy="365760"/>
          </a:xfrm>
          <a:prstGeom prst="rect">
            <a:avLst/>
          </a:prstGeom>
          <a:noFill/>
        </p:spPr>
        <p:txBody>
          <a:bodyPr wrap="square" anchor="t" lIns="0" rIns="0" tIns="0" bIns="0">
            <a:spAutoFit/>
          </a:bodyPr>
          <a:lstStyle/>
          <a:p>
            <a:pPr algn="l"/>
            <a:r>
              <a:rPr sz="1500" b="1" i="0">
                <a:solidFill>
                  <a:srgbClr val="0B6E4F"/>
                </a:solidFill>
                <a:latin typeface="Apple SD Gothic Neo"/>
                <a:ea typeface="Apple SD Gothic Neo"/>
                <a:cs typeface="Apple SD Gothic Neo"/>
              </a:rPr>
              <a:t>AV의 결정</a:t>
            </a:r>
          </a:p>
        </p:txBody>
      </p:sp>
      <p:sp>
        <p:nvSpPr>
          <p:cNvPr id="7" name="r0c0"/>
          <p:cNvSpPr/>
          <p:nvPr/>
        </p:nvSpPr>
        <p:spPr>
          <a:xfrm>
            <a:off x="548640" y="1901952"/>
            <a:ext cx="3520440" cy="658368"/>
          </a:xfrm>
          <a:prstGeom prst="roundRect">
            <a:avLst>
              <a:gd name="adj" fmla="val 12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19" y="1901952"/>
            <a:ext cx="2560320" cy="658368"/>
          </a:xfrm>
          <a:prstGeom prst="rect">
            <a:avLst/>
          </a:prstGeom>
          <a:noFill/>
        </p:spPr>
        <p:txBody>
          <a:bodyPr wrap="square" anchor="ctr" lIns="0" rIns="0" tIns="0" bIns="0">
            <a:spAutoFit/>
          </a:bodyPr>
          <a:lstStyle/>
          <a:p>
            <a:pPr algn="l"/>
            <a:r>
              <a:rPr sz="1400" b="1" i="0">
                <a:solidFill>
                  <a:srgbClr val="1F2328"/>
                </a:solidFill>
                <a:latin typeface="Apple SD Gothic Neo"/>
                <a:ea typeface="Apple SD Gothic Neo"/>
                <a:cs typeface="Apple SD Gothic Neo"/>
              </a:rPr>
              <a:t>분기 · 출구</a:t>
            </a:r>
          </a:p>
        </p:txBody>
      </p:sp>
      <p:sp>
        <p:nvSpPr>
          <p:cNvPr id="9" name="Right Arrow 8"/>
          <p:cNvSpPr/>
          <p:nvPr/>
        </p:nvSpPr>
        <p:spPr>
          <a:xfrm>
            <a:off x="4142232" y="2121408"/>
            <a:ext cx="128016" cy="219456"/>
          </a:xfrm>
          <a:prstGeom prst="rightArrow">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0c1"/>
          <p:cNvSpPr/>
          <p:nvPr/>
        </p:nvSpPr>
        <p:spPr>
          <a:xfrm>
            <a:off x="4343400" y="1901952"/>
            <a:ext cx="3520440" cy="658368"/>
          </a:xfrm>
          <a:prstGeom prst="roundRect">
            <a:avLst>
              <a:gd name="adj" fmla="val 12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901952"/>
            <a:ext cx="3246120" cy="658368"/>
          </a:xfrm>
          <a:prstGeom prst="rect">
            <a:avLst/>
          </a:prstGeom>
          <a:noFill/>
        </p:spPr>
        <p:txBody>
          <a:bodyPr wrap="square" anchor="ctr" lIns="0" rIns="0" tIns="0" bIns="0">
            <a:spAutoFit/>
          </a:bodyPr>
          <a:lstStyle/>
          <a:p>
            <a:pPr algn="l"/>
            <a:r>
              <a:rPr sz="1400" b="0" i="0">
                <a:solidFill>
                  <a:srgbClr val="1F2328"/>
                </a:solidFill>
                <a:latin typeface="Apple SD Gothic Neo"/>
                <a:ea typeface="Apple SD Gothic Neo"/>
                <a:cs typeface="Apple SD Gothic Neo"/>
              </a:rPr>
              <a:t>직진 차량 사이로 출구 차선에 들어가야 함</a:t>
            </a:r>
          </a:p>
        </p:txBody>
      </p:sp>
      <p:sp>
        <p:nvSpPr>
          <p:cNvPr id="12" name="Right Arrow 11"/>
          <p:cNvSpPr/>
          <p:nvPr/>
        </p:nvSpPr>
        <p:spPr>
          <a:xfrm>
            <a:off x="7936992" y="2121408"/>
            <a:ext cx="128016" cy="219456"/>
          </a:xfrm>
          <a:prstGeom prst="rightArrow">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0c2"/>
          <p:cNvSpPr/>
          <p:nvPr/>
        </p:nvSpPr>
        <p:spPr>
          <a:xfrm>
            <a:off x="8138160" y="1901952"/>
            <a:ext cx="3520440" cy="658368"/>
          </a:xfrm>
          <a:prstGeom prst="roundRect">
            <a:avLst>
              <a:gd name="adj" fmla="val 12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1901952"/>
            <a:ext cx="3246120" cy="658368"/>
          </a:xfrm>
          <a:prstGeom prst="rect">
            <a:avLst/>
          </a:prstGeom>
          <a:noFill/>
        </p:spPr>
        <p:txBody>
          <a:bodyPr wrap="square" anchor="ctr" lIns="0" rIns="0" tIns="0" bIns="0">
            <a:spAutoFit/>
          </a:bodyPr>
          <a:lstStyle/>
          <a:p>
            <a:pPr algn="l"/>
            <a:r>
              <a:rPr sz="1400" b="1" i="0">
                <a:solidFill>
                  <a:srgbClr val="1F2328"/>
                </a:solidFill>
                <a:latin typeface="Apple SD Gothic Neo"/>
                <a:ea typeface="Apple SD Gothic Neo"/>
                <a:cs typeface="Apple SD Gothic Neo"/>
              </a:rPr>
              <a:t>언제 옮길지 (늦으면 경로 이탈)</a:t>
            </a:r>
          </a:p>
        </p:txBody>
      </p:sp>
      <p:sp>
        <p:nvSpPr>
          <p:cNvPr id="15" name="segtag_0"/>
          <p:cNvSpPr/>
          <p:nvPr/>
        </p:nvSpPr>
        <p:spPr>
          <a:xfrm>
            <a:off x="685800" y="2057400"/>
            <a:ext cx="621792" cy="347472"/>
          </a:xfrm>
          <a:prstGeom prst="roundRect">
            <a:avLst>
              <a:gd name="adj" fmla="val 30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057400"/>
            <a:ext cx="621792" cy="347472"/>
          </a:xfrm>
          <a:prstGeom prst="rect">
            <a:avLst/>
          </a:prstGeom>
          <a:noFill/>
        </p:spPr>
        <p:txBody>
          <a:bodyPr wrap="square" anchor="ctr" lIns="0" rIns="0" tIns="0" bIns="0">
            <a:spAutoFit/>
          </a:bodyPr>
          <a:lstStyle/>
          <a:p>
            <a:pPr algn="ctr"/>
            <a:r>
              <a:rPr sz="1100" b="1" i="0">
                <a:solidFill>
                  <a:srgbClr val="FFFFFF"/>
                </a:solidFill>
                <a:latin typeface="Apple SD Gothic Neo"/>
                <a:ea typeface="Apple SD Gothic Neo"/>
                <a:cs typeface="Apple SD Gothic Neo"/>
              </a:rPr>
              <a:t>2·4</a:t>
            </a:r>
          </a:p>
        </p:txBody>
      </p:sp>
      <p:sp>
        <p:nvSpPr>
          <p:cNvPr id="17" name="r1c0"/>
          <p:cNvSpPr/>
          <p:nvPr/>
        </p:nvSpPr>
        <p:spPr>
          <a:xfrm>
            <a:off x="548640" y="2688336"/>
            <a:ext cx="3520440" cy="658368"/>
          </a:xfrm>
          <a:prstGeom prst="roundRect">
            <a:avLst>
              <a:gd name="adj" fmla="val 12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17319" y="2688336"/>
            <a:ext cx="2560320" cy="658368"/>
          </a:xfrm>
          <a:prstGeom prst="rect">
            <a:avLst/>
          </a:prstGeom>
          <a:noFill/>
        </p:spPr>
        <p:txBody>
          <a:bodyPr wrap="square" anchor="ctr" lIns="0" rIns="0" tIns="0" bIns="0">
            <a:spAutoFit/>
          </a:bodyPr>
          <a:lstStyle/>
          <a:p>
            <a:pPr algn="l"/>
            <a:r>
              <a:rPr sz="1400" b="1" i="0">
                <a:solidFill>
                  <a:srgbClr val="1F2328"/>
                </a:solidFill>
                <a:latin typeface="Apple SD Gothic Neo"/>
                <a:ea typeface="Apple SD Gothic Neo"/>
                <a:cs typeface="Apple SD Gothic Neo"/>
              </a:rPr>
              <a:t>합류</a:t>
            </a:r>
          </a:p>
        </p:txBody>
      </p:sp>
      <p:sp>
        <p:nvSpPr>
          <p:cNvPr id="19" name="Right Arrow 18"/>
          <p:cNvSpPr/>
          <p:nvPr/>
        </p:nvSpPr>
        <p:spPr>
          <a:xfrm>
            <a:off x="4142232" y="2907791"/>
            <a:ext cx="128016" cy="219456"/>
          </a:xfrm>
          <a:prstGeom prst="rightArrow">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1c1"/>
          <p:cNvSpPr/>
          <p:nvPr/>
        </p:nvSpPr>
        <p:spPr>
          <a:xfrm>
            <a:off x="4343400" y="2688336"/>
            <a:ext cx="3520440" cy="658368"/>
          </a:xfrm>
          <a:prstGeom prst="roundRect">
            <a:avLst>
              <a:gd name="adj" fmla="val 12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26280" y="2688336"/>
            <a:ext cx="3246120" cy="658368"/>
          </a:xfrm>
          <a:prstGeom prst="rect">
            <a:avLst/>
          </a:prstGeom>
          <a:noFill/>
        </p:spPr>
        <p:txBody>
          <a:bodyPr wrap="square" anchor="ctr" lIns="0" rIns="0" tIns="0" bIns="0">
            <a:spAutoFit/>
          </a:bodyPr>
          <a:lstStyle/>
          <a:p>
            <a:pPr algn="l"/>
            <a:r>
              <a:rPr sz="1400" b="0" i="0">
                <a:solidFill>
                  <a:srgbClr val="1F2328"/>
                </a:solidFill>
                <a:latin typeface="Apple SD Gothic Neo"/>
                <a:ea typeface="Apple SD Gothic Neo"/>
                <a:cs typeface="Apple SD Gothic Neo"/>
              </a:rPr>
              <a:t>합류 차량과 본선 차량</a:t>
            </a:r>
          </a:p>
        </p:txBody>
      </p:sp>
      <p:sp>
        <p:nvSpPr>
          <p:cNvPr id="22" name="Right Arrow 21"/>
          <p:cNvSpPr/>
          <p:nvPr/>
        </p:nvSpPr>
        <p:spPr>
          <a:xfrm>
            <a:off x="7936992" y="2907791"/>
            <a:ext cx="128016" cy="219456"/>
          </a:xfrm>
          <a:prstGeom prst="rightArrow">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1c2"/>
          <p:cNvSpPr/>
          <p:nvPr/>
        </p:nvSpPr>
        <p:spPr>
          <a:xfrm>
            <a:off x="8138160" y="2688336"/>
            <a:ext cx="3520440" cy="658368"/>
          </a:xfrm>
          <a:prstGeom prst="roundRect">
            <a:avLst>
              <a:gd name="adj" fmla="val 12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21040" y="2688336"/>
            <a:ext cx="3246120" cy="658368"/>
          </a:xfrm>
          <a:prstGeom prst="rect">
            <a:avLst/>
          </a:prstGeom>
          <a:noFill/>
        </p:spPr>
        <p:txBody>
          <a:bodyPr wrap="square" anchor="ctr" lIns="0" rIns="0" tIns="0" bIns="0">
            <a:spAutoFit/>
          </a:bodyPr>
          <a:lstStyle/>
          <a:p>
            <a:pPr algn="l"/>
            <a:r>
              <a:rPr sz="1400" b="1" i="0">
                <a:solidFill>
                  <a:srgbClr val="1F2328"/>
                </a:solidFill>
                <a:latin typeface="Apple SD Gothic Neo"/>
                <a:ea typeface="Apple SD Gothic Neo"/>
                <a:cs typeface="Apple SD Gothic Neo"/>
              </a:rPr>
              <a:t>속도 맞추기, 양보 또는 진입</a:t>
            </a:r>
          </a:p>
        </p:txBody>
      </p:sp>
      <p:sp>
        <p:nvSpPr>
          <p:cNvPr id="25" name="segtag_1"/>
          <p:cNvSpPr/>
          <p:nvPr/>
        </p:nvSpPr>
        <p:spPr>
          <a:xfrm>
            <a:off x="685800" y="2843784"/>
            <a:ext cx="621792" cy="347472"/>
          </a:xfrm>
          <a:prstGeom prst="roundRect">
            <a:avLst>
              <a:gd name="adj" fmla="val 30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2843784"/>
            <a:ext cx="621792" cy="347472"/>
          </a:xfrm>
          <a:prstGeom prst="rect">
            <a:avLst/>
          </a:prstGeom>
          <a:noFill/>
        </p:spPr>
        <p:txBody>
          <a:bodyPr wrap="square" anchor="ctr" lIns="0" rIns="0" tIns="0" bIns="0">
            <a:spAutoFit/>
          </a:bodyPr>
          <a:lstStyle/>
          <a:p>
            <a:pPr algn="ctr"/>
            <a:r>
              <a:rPr sz="1100" b="1" i="0">
                <a:solidFill>
                  <a:srgbClr val="FFFFFF"/>
                </a:solidFill>
                <a:latin typeface="Apple SD Gothic Neo"/>
                <a:ea typeface="Apple SD Gothic Neo"/>
                <a:cs typeface="Apple SD Gothic Neo"/>
              </a:rPr>
              <a:t>2·3</a:t>
            </a:r>
          </a:p>
        </p:txBody>
      </p:sp>
      <p:sp>
        <p:nvSpPr>
          <p:cNvPr id="27" name="r2c0"/>
          <p:cNvSpPr/>
          <p:nvPr/>
        </p:nvSpPr>
        <p:spPr>
          <a:xfrm>
            <a:off x="548640" y="3474720"/>
            <a:ext cx="3520440" cy="658368"/>
          </a:xfrm>
          <a:prstGeom prst="roundRect">
            <a:avLst>
              <a:gd name="adj" fmla="val 12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17319" y="3474720"/>
            <a:ext cx="2560320" cy="658368"/>
          </a:xfrm>
          <a:prstGeom prst="rect">
            <a:avLst/>
          </a:prstGeom>
          <a:noFill/>
        </p:spPr>
        <p:txBody>
          <a:bodyPr wrap="square" anchor="ctr" lIns="0" rIns="0" tIns="0" bIns="0">
            <a:spAutoFit/>
          </a:bodyPr>
          <a:lstStyle/>
          <a:p>
            <a:pPr algn="l"/>
            <a:r>
              <a:rPr sz="1400" b="1" i="0">
                <a:solidFill>
                  <a:srgbClr val="1F2328"/>
                </a:solidFill>
                <a:latin typeface="Apple SD Gothic Neo"/>
                <a:ea typeface="Apple SD Gothic Neo"/>
                <a:cs typeface="Apple SD Gothic Neo"/>
              </a:rPr>
              <a:t>차로 감소</a:t>
            </a:r>
          </a:p>
        </p:txBody>
      </p:sp>
      <p:sp>
        <p:nvSpPr>
          <p:cNvPr id="29" name="Right Arrow 28"/>
          <p:cNvSpPr/>
          <p:nvPr/>
        </p:nvSpPr>
        <p:spPr>
          <a:xfrm>
            <a:off x="4142232" y="3694176"/>
            <a:ext cx="128016" cy="219456"/>
          </a:xfrm>
          <a:prstGeom prst="rightArrow">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2c1"/>
          <p:cNvSpPr/>
          <p:nvPr/>
        </p:nvSpPr>
        <p:spPr>
          <a:xfrm>
            <a:off x="4343400" y="3474720"/>
            <a:ext cx="3520440" cy="658368"/>
          </a:xfrm>
          <a:prstGeom prst="roundRect">
            <a:avLst>
              <a:gd name="adj" fmla="val 12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26280" y="3474720"/>
            <a:ext cx="3246120" cy="658368"/>
          </a:xfrm>
          <a:prstGeom prst="rect">
            <a:avLst/>
          </a:prstGeom>
          <a:noFill/>
        </p:spPr>
        <p:txBody>
          <a:bodyPr wrap="square" anchor="ctr" lIns="0" rIns="0" tIns="0" bIns="0">
            <a:spAutoFit/>
          </a:bodyPr>
          <a:lstStyle/>
          <a:p>
            <a:pPr algn="l"/>
            <a:r>
              <a:rPr sz="1400" b="0" i="0">
                <a:solidFill>
                  <a:srgbClr val="1F2328"/>
                </a:solidFill>
                <a:latin typeface="Apple SD Gothic Neo"/>
                <a:ea typeface="Apple SD Gothic Neo"/>
                <a:cs typeface="Apple SD Gothic Neo"/>
              </a:rPr>
              <a:t>4차선이 지하 2 + 지상 2로 갈림</a:t>
            </a:r>
          </a:p>
        </p:txBody>
      </p:sp>
      <p:sp>
        <p:nvSpPr>
          <p:cNvPr id="32" name="Right Arrow 31"/>
          <p:cNvSpPr/>
          <p:nvPr/>
        </p:nvSpPr>
        <p:spPr>
          <a:xfrm>
            <a:off x="7936992" y="3694176"/>
            <a:ext cx="128016" cy="219456"/>
          </a:xfrm>
          <a:prstGeom prst="rightArrow">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2c2"/>
          <p:cNvSpPr/>
          <p:nvPr/>
        </p:nvSpPr>
        <p:spPr>
          <a:xfrm>
            <a:off x="8138160" y="3474720"/>
            <a:ext cx="3520440" cy="658368"/>
          </a:xfrm>
          <a:prstGeom prst="roundRect">
            <a:avLst>
              <a:gd name="adj" fmla="val 12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1040" y="3474720"/>
            <a:ext cx="3246120" cy="658368"/>
          </a:xfrm>
          <a:prstGeom prst="rect">
            <a:avLst/>
          </a:prstGeom>
          <a:noFill/>
        </p:spPr>
        <p:txBody>
          <a:bodyPr wrap="square" anchor="ctr" lIns="0" rIns="0" tIns="0" bIns="0">
            <a:spAutoFit/>
          </a:bodyPr>
          <a:lstStyle/>
          <a:p>
            <a:pPr algn="l"/>
            <a:r>
              <a:rPr sz="1400" b="1" i="0">
                <a:solidFill>
                  <a:srgbClr val="1F2328"/>
                </a:solidFill>
                <a:latin typeface="Apple SD Gothic Neo"/>
                <a:ea typeface="Apple SD Gothic Neo"/>
                <a:cs typeface="Apple SD Gothic Neo"/>
              </a:rPr>
              <a:t>끊기는 차선에서 미리 빠지기</a:t>
            </a:r>
          </a:p>
        </p:txBody>
      </p:sp>
      <p:sp>
        <p:nvSpPr>
          <p:cNvPr id="35" name="segtag_2"/>
          <p:cNvSpPr/>
          <p:nvPr/>
        </p:nvSpPr>
        <p:spPr>
          <a:xfrm>
            <a:off x="685800" y="3630168"/>
            <a:ext cx="621792" cy="347472"/>
          </a:xfrm>
          <a:prstGeom prst="roundRect">
            <a:avLst>
              <a:gd name="adj" fmla="val 30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3630168"/>
            <a:ext cx="621792" cy="347472"/>
          </a:xfrm>
          <a:prstGeom prst="rect">
            <a:avLst/>
          </a:prstGeom>
          <a:noFill/>
        </p:spPr>
        <p:txBody>
          <a:bodyPr wrap="square" anchor="ctr" lIns="0" rIns="0" tIns="0" bIns="0">
            <a:spAutoFit/>
          </a:bodyPr>
          <a:lstStyle/>
          <a:p>
            <a:pPr algn="ctr"/>
            <a:r>
              <a:rPr sz="1100" b="1" i="0">
                <a:solidFill>
                  <a:srgbClr val="FFFFFF"/>
                </a:solidFill>
                <a:latin typeface="Apple SD Gothic Neo"/>
                <a:ea typeface="Apple SD Gothic Neo"/>
                <a:cs typeface="Apple SD Gothic Neo"/>
              </a:rPr>
              <a:t>2</a:t>
            </a:r>
          </a:p>
        </p:txBody>
      </p:sp>
      <p:sp>
        <p:nvSpPr>
          <p:cNvPr id="37" name="r3c0"/>
          <p:cNvSpPr/>
          <p:nvPr/>
        </p:nvSpPr>
        <p:spPr>
          <a:xfrm>
            <a:off x="548640" y="4261104"/>
            <a:ext cx="3520440" cy="658368"/>
          </a:xfrm>
          <a:prstGeom prst="roundRect">
            <a:avLst>
              <a:gd name="adj" fmla="val 12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417319" y="4261104"/>
            <a:ext cx="2560320" cy="658368"/>
          </a:xfrm>
          <a:prstGeom prst="rect">
            <a:avLst/>
          </a:prstGeom>
          <a:noFill/>
        </p:spPr>
        <p:txBody>
          <a:bodyPr wrap="square" anchor="ctr" lIns="0" rIns="0" tIns="0" bIns="0">
            <a:spAutoFit/>
          </a:bodyPr>
          <a:lstStyle/>
          <a:p>
            <a:pPr algn="l"/>
            <a:r>
              <a:rPr sz="1400" b="1" i="0">
                <a:solidFill>
                  <a:srgbClr val="1F2328"/>
                </a:solidFill>
                <a:latin typeface="Apple SD Gothic Neo"/>
                <a:ea typeface="Apple SD Gothic Neo"/>
                <a:cs typeface="Apple SD Gothic Neo"/>
              </a:rPr>
              <a:t>신호 교차로</a:t>
            </a:r>
          </a:p>
        </p:txBody>
      </p:sp>
      <p:sp>
        <p:nvSpPr>
          <p:cNvPr id="39" name="Right Arrow 38"/>
          <p:cNvSpPr/>
          <p:nvPr/>
        </p:nvSpPr>
        <p:spPr>
          <a:xfrm>
            <a:off x="4142232" y="4480560"/>
            <a:ext cx="128016" cy="219456"/>
          </a:xfrm>
          <a:prstGeom prst="rightArrow">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3c1"/>
          <p:cNvSpPr/>
          <p:nvPr/>
        </p:nvSpPr>
        <p:spPr>
          <a:xfrm>
            <a:off x="4343400" y="4261104"/>
            <a:ext cx="3520440" cy="658368"/>
          </a:xfrm>
          <a:prstGeom prst="roundRect">
            <a:avLst>
              <a:gd name="adj" fmla="val 12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26280" y="4261104"/>
            <a:ext cx="3246120" cy="658368"/>
          </a:xfrm>
          <a:prstGeom prst="rect">
            <a:avLst/>
          </a:prstGeom>
          <a:noFill/>
        </p:spPr>
        <p:txBody>
          <a:bodyPr wrap="square" anchor="ctr" lIns="0" rIns="0" tIns="0" bIns="0">
            <a:spAutoFit/>
          </a:bodyPr>
          <a:lstStyle/>
          <a:p>
            <a:pPr algn="l"/>
            <a:r>
              <a:rPr sz="1400" b="0" i="0">
                <a:solidFill>
                  <a:srgbClr val="1F2328"/>
                </a:solidFill>
                <a:latin typeface="Apple SD Gothic Neo"/>
                <a:ea typeface="Apple SD Gothic Neo"/>
                <a:cs typeface="Apple SD Gothic Neo"/>
              </a:rPr>
              <a:t>신호 대기열, 좌회전 차량</a:t>
            </a:r>
          </a:p>
        </p:txBody>
      </p:sp>
      <p:sp>
        <p:nvSpPr>
          <p:cNvPr id="42" name="Right Arrow 41"/>
          <p:cNvSpPr/>
          <p:nvPr/>
        </p:nvSpPr>
        <p:spPr>
          <a:xfrm>
            <a:off x="7936992" y="4480560"/>
            <a:ext cx="128016" cy="219456"/>
          </a:xfrm>
          <a:prstGeom prst="rightArrow">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3c2"/>
          <p:cNvSpPr/>
          <p:nvPr/>
        </p:nvSpPr>
        <p:spPr>
          <a:xfrm>
            <a:off x="8138160" y="4261104"/>
            <a:ext cx="3520440" cy="658368"/>
          </a:xfrm>
          <a:prstGeom prst="roundRect">
            <a:avLst>
              <a:gd name="adj" fmla="val 12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321040" y="4261104"/>
            <a:ext cx="3246120" cy="658368"/>
          </a:xfrm>
          <a:prstGeom prst="rect">
            <a:avLst/>
          </a:prstGeom>
          <a:noFill/>
        </p:spPr>
        <p:txBody>
          <a:bodyPr wrap="square" anchor="ctr" lIns="0" rIns="0" tIns="0" bIns="0">
            <a:spAutoFit/>
          </a:bodyPr>
          <a:lstStyle/>
          <a:p>
            <a:pPr algn="l"/>
            <a:r>
              <a:rPr sz="1400" b="1" i="0">
                <a:solidFill>
                  <a:srgbClr val="1F2328"/>
                </a:solidFill>
                <a:latin typeface="Apple SD Gothic Neo"/>
                <a:ea typeface="Apple SD Gothic Neo"/>
                <a:cs typeface="Apple SD Gothic Neo"/>
              </a:rPr>
              <a:t>정지·출발, 대기열 뒤 감속</a:t>
            </a:r>
          </a:p>
        </p:txBody>
      </p:sp>
      <p:sp>
        <p:nvSpPr>
          <p:cNvPr id="45" name="segtag_3"/>
          <p:cNvSpPr/>
          <p:nvPr/>
        </p:nvSpPr>
        <p:spPr>
          <a:xfrm>
            <a:off x="685800" y="4416552"/>
            <a:ext cx="621792" cy="347472"/>
          </a:xfrm>
          <a:prstGeom prst="roundRect">
            <a:avLst>
              <a:gd name="adj" fmla="val 30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5800" y="4416552"/>
            <a:ext cx="621792" cy="347472"/>
          </a:xfrm>
          <a:prstGeom prst="rect">
            <a:avLst/>
          </a:prstGeom>
          <a:noFill/>
        </p:spPr>
        <p:txBody>
          <a:bodyPr wrap="square" anchor="ctr" lIns="0" rIns="0" tIns="0" bIns="0">
            <a:spAutoFit/>
          </a:bodyPr>
          <a:lstStyle/>
          <a:p>
            <a:pPr algn="ctr"/>
            <a:r>
              <a:rPr sz="1100" b="1" i="0">
                <a:solidFill>
                  <a:srgbClr val="FFFFFF"/>
                </a:solidFill>
                <a:latin typeface="Apple SD Gothic Neo"/>
                <a:ea typeface="Apple SD Gothic Neo"/>
                <a:cs typeface="Apple SD Gothic Neo"/>
              </a:rPr>
              <a:t>4·1</a:t>
            </a:r>
          </a:p>
        </p:txBody>
      </p:sp>
      <p:sp>
        <p:nvSpPr>
          <p:cNvPr id="47" name="r4c0"/>
          <p:cNvSpPr/>
          <p:nvPr/>
        </p:nvSpPr>
        <p:spPr>
          <a:xfrm>
            <a:off x="548640" y="5047488"/>
            <a:ext cx="3520440" cy="658368"/>
          </a:xfrm>
          <a:prstGeom prst="roundRect">
            <a:avLst>
              <a:gd name="adj" fmla="val 12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17319" y="5047488"/>
            <a:ext cx="2560320" cy="658368"/>
          </a:xfrm>
          <a:prstGeom prst="rect">
            <a:avLst/>
          </a:prstGeom>
          <a:noFill/>
        </p:spPr>
        <p:txBody>
          <a:bodyPr wrap="square" anchor="ctr" lIns="0" rIns="0" tIns="0" bIns="0">
            <a:spAutoFit/>
          </a:bodyPr>
          <a:lstStyle/>
          <a:p>
            <a:pPr algn="l"/>
            <a:r>
              <a:rPr sz="1400" b="1" i="0">
                <a:solidFill>
                  <a:srgbClr val="1F2328"/>
                </a:solidFill>
                <a:latin typeface="Apple SD Gothic Neo"/>
                <a:ea typeface="Apple SD Gothic Neo"/>
                <a:cs typeface="Apple SD Gothic Neo"/>
              </a:rPr>
              <a:t>다중 차선</a:t>
            </a:r>
          </a:p>
        </p:txBody>
      </p:sp>
      <p:sp>
        <p:nvSpPr>
          <p:cNvPr id="49" name="Right Arrow 48"/>
          <p:cNvSpPr/>
          <p:nvPr/>
        </p:nvSpPr>
        <p:spPr>
          <a:xfrm>
            <a:off x="4142232" y="5266944"/>
            <a:ext cx="128016" cy="219456"/>
          </a:xfrm>
          <a:prstGeom prst="rightArrow">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4c1"/>
          <p:cNvSpPr/>
          <p:nvPr/>
        </p:nvSpPr>
        <p:spPr>
          <a:xfrm>
            <a:off x="4343400" y="5047488"/>
            <a:ext cx="3520440" cy="658368"/>
          </a:xfrm>
          <a:prstGeom prst="roundRect">
            <a:avLst>
              <a:gd name="adj" fmla="val 12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26280" y="5047488"/>
            <a:ext cx="3246120" cy="658368"/>
          </a:xfrm>
          <a:prstGeom prst="rect">
            <a:avLst/>
          </a:prstGeom>
          <a:noFill/>
        </p:spPr>
        <p:txBody>
          <a:bodyPr wrap="square" anchor="ctr" lIns="0" rIns="0" tIns="0" bIns="0">
            <a:spAutoFit/>
          </a:bodyPr>
          <a:lstStyle/>
          <a:p>
            <a:pPr algn="l"/>
            <a:r>
              <a:rPr sz="1400" b="0" i="0">
                <a:solidFill>
                  <a:srgbClr val="1F2328"/>
                </a:solidFill>
                <a:latin typeface="Apple SD Gothic Neo"/>
                <a:ea typeface="Apple SD Gothic Neo"/>
                <a:cs typeface="Apple SD Gothic Neo"/>
              </a:rPr>
              <a:t>느린 차량, 끼어드는 차량</a:t>
            </a:r>
          </a:p>
        </p:txBody>
      </p:sp>
      <p:sp>
        <p:nvSpPr>
          <p:cNvPr id="52" name="Right Arrow 51"/>
          <p:cNvSpPr/>
          <p:nvPr/>
        </p:nvSpPr>
        <p:spPr>
          <a:xfrm>
            <a:off x="7936992" y="5266944"/>
            <a:ext cx="128016" cy="219456"/>
          </a:xfrm>
          <a:prstGeom prst="rightArrow">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4c2"/>
          <p:cNvSpPr/>
          <p:nvPr/>
        </p:nvSpPr>
        <p:spPr>
          <a:xfrm>
            <a:off x="8138160" y="5047488"/>
            <a:ext cx="3520440" cy="658368"/>
          </a:xfrm>
          <a:prstGeom prst="roundRect">
            <a:avLst>
              <a:gd name="adj" fmla="val 12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321040" y="5047488"/>
            <a:ext cx="3246120" cy="658368"/>
          </a:xfrm>
          <a:prstGeom prst="rect">
            <a:avLst/>
          </a:prstGeom>
          <a:noFill/>
        </p:spPr>
        <p:txBody>
          <a:bodyPr wrap="square" anchor="ctr" lIns="0" rIns="0" tIns="0" bIns="0">
            <a:spAutoFit/>
          </a:bodyPr>
          <a:lstStyle/>
          <a:p>
            <a:pPr algn="l"/>
            <a:r>
              <a:rPr sz="1400" b="1" i="0">
                <a:solidFill>
                  <a:srgbClr val="1F2328"/>
                </a:solidFill>
                <a:latin typeface="Apple SD Gothic Neo"/>
                <a:ea typeface="Apple SD Gothic Neo"/>
                <a:cs typeface="Apple SD Gothic Neo"/>
              </a:rPr>
              <a:t>추월과 차간거리 유지</a:t>
            </a:r>
          </a:p>
        </p:txBody>
      </p:sp>
      <p:sp>
        <p:nvSpPr>
          <p:cNvPr id="55" name="segtag_4"/>
          <p:cNvSpPr/>
          <p:nvPr/>
        </p:nvSpPr>
        <p:spPr>
          <a:xfrm>
            <a:off x="685800" y="5202936"/>
            <a:ext cx="621792" cy="347472"/>
          </a:xfrm>
          <a:prstGeom prst="roundRect">
            <a:avLst>
              <a:gd name="adj" fmla="val 30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85800" y="5202936"/>
            <a:ext cx="621792" cy="347472"/>
          </a:xfrm>
          <a:prstGeom prst="rect">
            <a:avLst/>
          </a:prstGeom>
          <a:noFill/>
        </p:spPr>
        <p:txBody>
          <a:bodyPr wrap="square" anchor="ctr" lIns="0" rIns="0" tIns="0" bIns="0">
            <a:spAutoFit/>
          </a:bodyPr>
          <a:lstStyle/>
          <a:p>
            <a:pPr algn="ctr"/>
            <a:r>
              <a:rPr sz="1100" b="1" i="0">
                <a:solidFill>
                  <a:srgbClr val="FFFFFF"/>
                </a:solidFill>
                <a:latin typeface="Apple SD Gothic Neo"/>
                <a:ea typeface="Apple SD Gothic Neo"/>
                <a:cs typeface="Apple SD Gothic Neo"/>
              </a:rPr>
              <a:t>전체</a:t>
            </a:r>
          </a:p>
        </p:txBody>
      </p:sp>
      <p:sp>
        <p:nvSpPr>
          <p:cNvPr id="57" name="TextBox 56"/>
          <p:cNvSpPr txBox="1"/>
          <p:nvPr/>
        </p:nvSpPr>
        <p:spPr>
          <a:xfrm>
            <a:off x="548640" y="5925312"/>
            <a:ext cx="11064240" cy="548640"/>
          </a:xfrm>
          <a:prstGeom prst="rect">
            <a:avLst/>
          </a:prstGeom>
          <a:noFill/>
        </p:spPr>
        <p:txBody>
          <a:bodyPr wrap="square" anchor="t" lIns="0" rIns="0" tIns="0" bIns="0">
            <a:spAutoFit/>
          </a:bodyPr>
          <a:lstStyle/>
          <a:p>
            <a:pPr algn="l"/>
            <a:r>
              <a:rPr sz="1400" b="1" i="0">
                <a:solidFill>
                  <a:srgbClr val="0B6E4F"/>
                </a:solidFill>
                <a:latin typeface="Apple SD Gothic Neo"/>
                <a:ea typeface="Apple SD Gothic Neo"/>
                <a:cs typeface="Apple SD Gothic Neo"/>
              </a:rPr>
              <a:t>관측에 추가할 정보  </a:t>
            </a:r>
            <a:r>
              <a:rPr sz="1400" b="0" i="0">
                <a:solidFill>
                  <a:srgbClr val="1F2328"/>
                </a:solidFill>
                <a:latin typeface="Apple SD Gothic Neo"/>
                <a:ea typeface="Apple SD Gothic Neo"/>
                <a:cs typeface="Apple SD Gothic Neo"/>
              </a:rPr>
              <a:t>결정 지점까지 거리 · 지금 차선이 경로로 이어지는지 · 신호 상태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84048"/>
            <a:ext cx="11064240" cy="685800"/>
          </a:xfrm>
          <a:prstGeom prst="rect">
            <a:avLst/>
          </a:prstGeom>
          <a:noFill/>
        </p:spPr>
        <p:txBody>
          <a:bodyPr wrap="square" anchor="t" lIns="0" rIns="0" tIns="0" bIns="0">
            <a:spAutoFit/>
          </a:bodyPr>
          <a:lstStyle/>
          <a:p>
            <a:pPr algn="l"/>
            <a:r>
              <a:rPr sz="3200" b="1" i="0">
                <a:solidFill>
                  <a:srgbClr val="1F2328"/>
                </a:solidFill>
                <a:latin typeface="Apple SD Gothic Neo"/>
                <a:ea typeface="Apple SD Gothic Neo"/>
                <a:cs typeface="Apple SD Gothic Neo"/>
              </a:rPr>
              <a:t>수집할 데이터</a:t>
            </a:r>
          </a:p>
        </p:txBody>
      </p:sp>
      <p:sp>
        <p:nvSpPr>
          <p:cNvPr id="3" name="subtitle"/>
          <p:cNvSpPr txBox="1"/>
          <p:nvPr/>
        </p:nvSpPr>
        <p:spPr>
          <a:xfrm>
            <a:off x="548640" y="1024128"/>
            <a:ext cx="11064240" cy="365760"/>
          </a:xfrm>
          <a:prstGeom prst="rect">
            <a:avLst/>
          </a:prstGeom>
          <a:noFill/>
        </p:spPr>
        <p:txBody>
          <a:bodyPr wrap="square" anchor="t" lIns="0" rIns="0" tIns="0" bIns="0">
            <a:spAutoFit/>
          </a:bodyPr>
          <a:lstStyle/>
          <a:p>
            <a:pPr algn="l"/>
            <a:r>
              <a:rPr sz="1500" b="0" i="0">
                <a:solidFill>
                  <a:srgbClr val="5B636E"/>
                </a:solidFill>
                <a:latin typeface="Apple SD Gothic Neo"/>
                <a:ea typeface="Apple SD Gothic Neo"/>
                <a:cs typeface="Apple SD Gothic Neo"/>
              </a:rPr>
              <a:t>기본 항목은 그대로 두고, 평가 기준을 증명하는 항목만 이유와 함께 추가</a:t>
            </a:r>
          </a:p>
        </p:txBody>
      </p:sp>
      <p:sp>
        <p:nvSpPr>
          <p:cNvPr id="4" name="base_card"/>
          <p:cNvSpPr/>
          <p:nvPr/>
        </p:nvSpPr>
        <p:spPr>
          <a:xfrm>
            <a:off x="548640" y="1481328"/>
            <a:ext cx="3931920" cy="3840480"/>
          </a:xfrm>
          <a:prstGeom prst="roundRect">
            <a:avLst>
              <a:gd name="adj" fmla="val 4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00200"/>
            <a:ext cx="3566160" cy="411480"/>
          </a:xfrm>
          <a:prstGeom prst="rect">
            <a:avLst/>
          </a:prstGeom>
          <a:noFill/>
        </p:spPr>
        <p:txBody>
          <a:bodyPr wrap="square" anchor="t" lIns="0" rIns="0" tIns="0" bIns="0">
            <a:spAutoFit/>
          </a:bodyPr>
          <a:lstStyle/>
          <a:p>
            <a:pPr algn="l"/>
            <a:r>
              <a:rPr sz="1600" b="1" i="0">
                <a:solidFill>
                  <a:srgbClr val="1F2328"/>
                </a:solidFill>
                <a:latin typeface="Apple SD Gothic Neo"/>
                <a:ea typeface="Apple SD Gothic Neo"/>
                <a:cs typeface="Apple SD Gothic Neo"/>
              </a:rPr>
              <a:t>기본 항목 19개</a:t>
            </a:r>
            <a:r>
              <a:rPr sz="1300" b="1" i="0">
                <a:solidFill>
                  <a:srgbClr val="0B6E4F"/>
                </a:solidFill>
                <a:latin typeface="Apple SD Gothic Neo"/>
                <a:ea typeface="Apple SD Gothic Neo"/>
                <a:cs typeface="Apple SD Gothic Neo"/>
              </a:rPr>
              <a:t>  변경 없음</a:t>
            </a:r>
          </a:p>
        </p:txBody>
      </p:sp>
      <p:sp>
        <p:nvSpPr>
          <p:cNvPr id="6" name="TextBox 5"/>
          <p:cNvSpPr txBox="1"/>
          <p:nvPr/>
        </p:nvSpPr>
        <p:spPr>
          <a:xfrm>
            <a:off x="777240" y="2057400"/>
            <a:ext cx="3566160" cy="3657600"/>
          </a:xfrm>
          <a:prstGeom prst="rect">
            <a:avLst/>
          </a:prstGeom>
          <a:noFill/>
        </p:spPr>
        <p:txBody>
          <a:bodyPr wrap="square" anchor="t" lIns="0" rIns="0" tIns="0" bIns="0">
            <a:spAutoFit/>
          </a:bodyPr>
          <a:lstStyle/>
          <a:p>
            <a:pPr algn="l">
              <a:spcAft>
                <a:spcPts val="500"/>
              </a:spcAft>
            </a:pPr>
            <a:r>
              <a:rPr sz="1200" b="1" i="0">
                <a:solidFill>
                  <a:srgbClr val="0B6E4F"/>
                </a:solidFill>
                <a:latin typeface="Apple SD Gothic Neo"/>
                <a:ea typeface="Apple SD Gothic Neo"/>
                <a:cs typeface="Apple SD Gothic Neo"/>
              </a:rPr>
              <a:t>시간  </a:t>
            </a:r>
            <a:r>
              <a:rPr sz="1200" b="0" i="0">
                <a:solidFill>
                  <a:srgbClr val="1F2328"/>
                </a:solidFill>
                <a:latin typeface="Apple SD Gothic Neo"/>
                <a:ea typeface="Apple SD Gothic Neo"/>
                <a:cs typeface="Apple SD Gothic Neo"/>
              </a:rPr>
              <a:t>episode, t</a:t>
            </a:r>
          </a:p>
          <a:p>
            <a:pPr algn="l">
              <a:spcAft>
                <a:spcPts val="500"/>
              </a:spcAft>
            </a:pPr>
            <a:r>
              <a:rPr sz="1200" b="1" i="0">
                <a:solidFill>
                  <a:srgbClr val="0B6E4F"/>
                </a:solidFill>
                <a:latin typeface="Apple SD Gothic Neo"/>
                <a:ea typeface="Apple SD Gothic Neo"/>
                <a:cs typeface="Apple SD Gothic Neo"/>
              </a:rPr>
              <a:t>관측  </a:t>
            </a:r>
            <a:r>
              <a:rPr sz="1200" b="0" i="0">
                <a:solidFill>
                  <a:srgbClr val="1F2328"/>
                </a:solidFill>
                <a:latin typeface="Apple SD Gothic Neo"/>
                <a:ea typeface="Apple SD Gothic Neo"/>
                <a:cs typeface="Apple SD Gothic Neo"/>
              </a:rPr>
              <a:t>observation, next_observation</a:t>
            </a:r>
          </a:p>
          <a:p>
            <a:pPr algn="l">
              <a:spcAft>
                <a:spcPts val="500"/>
              </a:spcAft>
            </a:pPr>
            <a:r>
              <a:rPr sz="1200" b="1" i="0">
                <a:solidFill>
                  <a:srgbClr val="0B6E4F"/>
                </a:solidFill>
                <a:latin typeface="Apple SD Gothic Neo"/>
                <a:ea typeface="Apple SD Gothic Neo"/>
                <a:cs typeface="Apple SD Gothic Neo"/>
              </a:rPr>
              <a:t>행동  </a:t>
            </a:r>
            <a:r>
              <a:rPr sz="1200" b="0" i="0">
                <a:solidFill>
                  <a:srgbClr val="1F2328"/>
                </a:solidFill>
                <a:latin typeface="Apple SD Gothic Neo"/>
                <a:ea typeface="Apple SD Gothic Neo"/>
                <a:cs typeface="Apple SD Gothic Neo"/>
              </a:rPr>
              <a:t>action_raw, action.accel_raw, action.lane_change_raw, action.lane_change, action.lane_change_applied</a:t>
            </a:r>
          </a:p>
          <a:p>
            <a:pPr algn="l">
              <a:spcAft>
                <a:spcPts val="500"/>
              </a:spcAft>
            </a:pPr>
            <a:r>
              <a:rPr sz="1200" b="1" i="0">
                <a:solidFill>
                  <a:srgbClr val="0B6E4F"/>
                </a:solidFill>
                <a:latin typeface="Apple SD Gothic Neo"/>
                <a:ea typeface="Apple SD Gothic Neo"/>
                <a:cs typeface="Apple SD Gothic Neo"/>
              </a:rPr>
              <a:t>결과  </a:t>
            </a:r>
            <a:r>
              <a:rPr sz="1200" b="0" i="0">
                <a:solidFill>
                  <a:srgbClr val="1F2328"/>
                </a:solidFill>
                <a:latin typeface="Apple SD Gothic Neo"/>
                <a:ea typeface="Apple SD Gothic Neo"/>
                <a:cs typeface="Apple SD Gothic Neo"/>
              </a:rPr>
              <a:t>reward, terminated, truncated</a:t>
            </a:r>
          </a:p>
          <a:p>
            <a:pPr algn="l">
              <a:spcAft>
                <a:spcPts val="500"/>
              </a:spcAft>
            </a:pPr>
            <a:r>
              <a:rPr sz="1200" b="1" i="0">
                <a:solidFill>
                  <a:srgbClr val="0B6E4F"/>
                </a:solidFill>
                <a:latin typeface="Apple SD Gothic Neo"/>
                <a:ea typeface="Apple SD Gothic Neo"/>
                <a:cs typeface="Apple SD Gothic Neo"/>
              </a:rPr>
              <a:t>절대 상태  </a:t>
            </a:r>
            <a:r>
              <a:rPr sz="1200" b="0" i="0">
                <a:solidFill>
                  <a:srgbClr val="1F2328"/>
                </a:solidFill>
                <a:latin typeface="Apple SD Gothic Neo"/>
                <a:ea typeface="Apple SD Gothic Neo"/>
                <a:cs typeface="Apple SD Gothic Neo"/>
              </a:rPr>
              <a:t>state, next_state  (AV·모든 차량의 위치·속도·차선)</a:t>
            </a:r>
          </a:p>
          <a:p>
            <a:pPr algn="l">
              <a:spcAft>
                <a:spcPts val="500"/>
              </a:spcAft>
            </a:pPr>
            <a:r>
              <a:rPr sz="1200" b="1" i="0">
                <a:solidFill>
                  <a:srgbClr val="0B6E4F"/>
                </a:solidFill>
                <a:latin typeface="Apple SD Gothic Neo"/>
                <a:ea typeface="Apple SD Gothic Neo"/>
                <a:cs typeface="Apple SD Gothic Neo"/>
              </a:rPr>
              <a:t>주변  </a:t>
            </a:r>
            <a:r>
              <a:rPr sz="1200" b="0" i="0">
                <a:solidFill>
                  <a:srgbClr val="1F2328"/>
                </a:solidFill>
                <a:latin typeface="Apple SD Gothic Neo"/>
                <a:ea typeface="Apple SD Gothic Neo"/>
                <a:cs typeface="Apple SD Gothic Neo"/>
              </a:rPr>
              <a:t>detected_vehicles</a:t>
            </a:r>
          </a:p>
          <a:p>
            <a:pPr algn="l">
              <a:spcAft>
                <a:spcPts val="500"/>
              </a:spcAft>
            </a:pPr>
            <a:r>
              <a:rPr sz="1200" b="1" i="0">
                <a:solidFill>
                  <a:srgbClr val="0B6E4F"/>
                </a:solidFill>
                <a:latin typeface="Apple SD Gothic Neo"/>
                <a:ea typeface="Apple SD Gothic Neo"/>
                <a:cs typeface="Apple SD Gothic Neo"/>
              </a:rPr>
              <a:t>이벤트  </a:t>
            </a:r>
            <a:r>
              <a:rPr sz="1200" b="0" i="0">
                <a:solidFill>
                  <a:srgbClr val="1F2328"/>
                </a:solidFill>
                <a:latin typeface="Apple SD Gothic Neo"/>
                <a:ea typeface="Apple SD Gothic Neo"/>
                <a:cs typeface="Apple SD Gothic Neo"/>
              </a:rPr>
              <a:t>event.collided, event.arrived, event.lane_before, event.lane_after</a:t>
            </a:r>
          </a:p>
        </p:txBody>
      </p:sp>
      <p:graphicFrame>
        <p:nvGraphicFramePr>
          <p:cNvPr id="7" name="Table 6"/>
          <p:cNvGraphicFramePr>
            <a:graphicFrameLocks noGrp="1"/>
          </p:cNvGraphicFramePr>
          <p:nvPr/>
        </p:nvGraphicFramePr>
        <p:xfrm>
          <a:off x="4709160" y="1481328"/>
          <a:ext cx="6903720" cy="3383280"/>
        </p:xfrm>
        <a:graphic>
          <a:graphicData uri="http://schemas.openxmlformats.org/drawingml/2006/table">
            <a:tbl>
              <a:tblPr firstRow="0" bandRow="0">
                <a:tableStyleId>{5C22544A-7EE6-4342-B048-85BDC9FD1C3A}</a:tableStyleId>
              </a:tblPr>
              <a:tblGrid>
                <a:gridCol w="2697480"/>
                <a:gridCol w="1600200"/>
                <a:gridCol w="2606040"/>
              </a:tblGrid>
              <a:tr h="411480">
                <a:tc>
                  <a:txBody>
                    <a:bodyPr/>
                    <a:lstStyle/>
                    <a:p>
                      <a:r>
                        <a:rPr sz="1300" b="1" i="0">
                          <a:solidFill>
                            <a:srgbClr val="FFFFFF"/>
                          </a:solidFill>
                          <a:latin typeface="Apple SD Gothic Neo"/>
                          <a:ea typeface="Apple SD Gothic Neo"/>
                          <a:cs typeface="Apple SD Gothic Neo"/>
                        </a:rPr>
                        <a:t>추가 항목</a:t>
                      </a:r>
                    </a:p>
                  </a:txBody>
                  <a:tcPr marL="109728" marR="73152" marT="27432" marB="27432" anchor="ctr">
                    <a:solidFill>
                      <a:srgbClr val="1F2328"/>
                    </a:solidFill>
                  </a:tcPr>
                </a:tc>
                <a:tc>
                  <a:txBody>
                    <a:bodyPr/>
                    <a:lstStyle/>
                    <a:p>
                      <a:r>
                        <a:rPr sz="1300" b="1" i="0">
                          <a:solidFill>
                            <a:srgbClr val="FFFFFF"/>
                          </a:solidFill>
                          <a:latin typeface="Apple SD Gothic Neo"/>
                          <a:ea typeface="Apple SD Gothic Neo"/>
                          <a:cs typeface="Apple SD Gothic Neo"/>
                        </a:rPr>
                        <a:t>단위</a:t>
                      </a:r>
                    </a:p>
                  </a:txBody>
                  <a:tcPr marL="109728" marR="73152" marT="27432" marB="27432" anchor="ctr">
                    <a:solidFill>
                      <a:srgbClr val="1F2328"/>
                    </a:solidFill>
                  </a:tcPr>
                </a:tc>
                <a:tc>
                  <a:txBody>
                    <a:bodyPr/>
                    <a:lstStyle/>
                    <a:p>
                      <a:r>
                        <a:rPr sz="1300" b="1" i="0">
                          <a:solidFill>
                            <a:srgbClr val="FFFFFF"/>
                          </a:solidFill>
                          <a:latin typeface="Apple SD Gothic Neo"/>
                          <a:ea typeface="Apple SD Gothic Neo"/>
                          <a:cs typeface="Apple SD Gothic Neo"/>
                        </a:rPr>
                        <a:t>증명하는 평가 기준</a:t>
                      </a:r>
                    </a:p>
                  </a:txBody>
                  <a:tcPr marL="109728" marR="73152" marT="27432" marB="27432" anchor="ctr">
                    <a:solidFill>
                      <a:srgbClr val="1F2328"/>
                    </a:solidFill>
                  </a:tcPr>
                </a:tc>
              </a:tr>
              <a:tr h="548640">
                <a:tc>
                  <a:txBody>
                    <a:bodyPr/>
                    <a:lstStyle/>
                    <a:p>
                      <a:r>
                        <a:rPr sz="1300" b="1" i="0">
                          <a:solidFill>
                            <a:srgbClr val="0B6E4F"/>
                          </a:solidFill>
                          <a:latin typeface="Apple SD Gothic Neo"/>
                          <a:ea typeface="Apple SD Gothic Neo"/>
                          <a:cs typeface="Apple SD Gothic Neo"/>
                        </a:rPr>
                        <a:t>route.on_route</a:t>
                      </a:r>
                    </a:p>
                  </a:txBody>
                  <a:tcPr marL="109728" marR="73152" marT="27432" marB="27432" anchor="ctr">
                    <a:solidFill>
                      <a:srgbClr val="FFF4D6"/>
                    </a:solidFill>
                  </a:tcPr>
                </a:tc>
                <a:tc>
                  <a:txBody>
                    <a:bodyPr/>
                    <a:lstStyle/>
                    <a:p>
                      <a:r>
                        <a:rPr sz="1300" b="0" i="0">
                          <a:solidFill>
                            <a:srgbClr val="1F2328"/>
                          </a:solidFill>
                          <a:latin typeface="Apple SD Gothic Neo"/>
                          <a:ea typeface="Apple SD Gothic Neo"/>
                          <a:cs typeface="Apple SD Gothic Neo"/>
                        </a:rPr>
                        <a:t>참/거짓</a:t>
                      </a:r>
                    </a:p>
                  </a:txBody>
                  <a:tcPr marL="109728" marR="73152" marT="27432" marB="27432" anchor="ctr">
                    <a:solidFill>
                      <a:srgbClr val="FFF4D6"/>
                    </a:solidFill>
                  </a:tcPr>
                </a:tc>
                <a:tc>
                  <a:txBody>
                    <a:bodyPr/>
                    <a:lstStyle/>
                    <a:p>
                      <a:r>
                        <a:rPr sz="1300" b="0" i="0">
                          <a:solidFill>
                            <a:srgbClr val="1F2328"/>
                          </a:solidFill>
                          <a:latin typeface="Apple SD Gothic Neo"/>
                          <a:ea typeface="Apple SD Gothic Neo"/>
                          <a:cs typeface="Apple SD Gothic Neo"/>
                        </a:rPr>
                        <a:t>잘못된 경로로 빠지지 않음</a:t>
                      </a:r>
                    </a:p>
                  </a:txBody>
                  <a:tcPr marL="109728" marR="73152" marT="27432" marB="27432" anchor="ctr">
                    <a:solidFill>
                      <a:srgbClr val="FFF4D6"/>
                    </a:solidFill>
                  </a:tcPr>
                </a:tc>
              </a:tr>
              <a:tr h="777240">
                <a:tc>
                  <a:txBody>
                    <a:bodyPr/>
                    <a:lstStyle/>
                    <a:p>
                      <a:r>
                        <a:rPr sz="1300" b="1" i="0">
                          <a:solidFill>
                            <a:srgbClr val="0B6E4F"/>
                          </a:solidFill>
                          <a:latin typeface="Apple SD Gothic Neo"/>
                          <a:ea typeface="Apple SD Gothic Neo"/>
                          <a:cs typeface="Apple SD Gothic Neo"/>
                        </a:rPr>
                        <a:t>route.dist_to_decision</a:t>
                      </a:r>
                    </a:p>
                    <a:p>
                      <a:r>
                        <a:rPr sz="1300" b="1" i="0">
                          <a:solidFill>
                            <a:srgbClr val="0B6E4F"/>
                          </a:solidFill>
                          <a:latin typeface="Apple SD Gothic Neo"/>
                          <a:ea typeface="Apple SD Gothic Neo"/>
                          <a:cs typeface="Apple SD Gothic Neo"/>
                        </a:rPr>
                        <a:t>route.decision_type</a:t>
                      </a:r>
                    </a:p>
                  </a:txBody>
                  <a:tcPr marL="109728" marR="73152" marT="27432" marB="27432" anchor="ctr">
                    <a:solidFill>
                      <a:srgbClr val="FFF4D6"/>
                    </a:solidFill>
                  </a:tcPr>
                </a:tc>
                <a:tc>
                  <a:txBody>
                    <a:bodyPr/>
                    <a:lstStyle/>
                    <a:p>
                      <a:r>
                        <a:rPr sz="1300" b="0" i="0">
                          <a:solidFill>
                            <a:srgbClr val="1F2328"/>
                          </a:solidFill>
                          <a:latin typeface="Apple SD Gothic Neo"/>
                          <a:ea typeface="Apple SD Gothic Neo"/>
                          <a:cs typeface="Apple SD Gothic Neo"/>
                        </a:rPr>
                        <a:t>m</a:t>
                      </a:r>
                    </a:p>
                    <a:p>
                      <a:r>
                        <a:rPr sz="1300" b="0" i="0">
                          <a:solidFill>
                            <a:srgbClr val="1F2328"/>
                          </a:solidFill>
                          <a:latin typeface="Apple SD Gothic Neo"/>
                          <a:ea typeface="Apple SD Gothic Neo"/>
                          <a:cs typeface="Apple SD Gothic Neo"/>
                        </a:rPr>
                        <a:t>합류·분기·신호</a:t>
                      </a:r>
                    </a:p>
                  </a:txBody>
                  <a:tcPr marL="109728" marR="73152" marT="27432" marB="27432" anchor="ctr">
                    <a:solidFill>
                      <a:srgbClr val="FFF4D6"/>
                    </a:solidFill>
                  </a:tcPr>
                </a:tc>
                <a:tc>
                  <a:txBody>
                    <a:bodyPr/>
                    <a:lstStyle/>
                    <a:p>
                      <a:r>
                        <a:rPr sz="1300" b="0" i="0">
                          <a:solidFill>
                            <a:srgbClr val="1F2328"/>
                          </a:solidFill>
                          <a:latin typeface="Apple SD Gothic Neo"/>
                          <a:ea typeface="Apple SD Gothic Neo"/>
                          <a:cs typeface="Apple SD Gothic Neo"/>
                        </a:rPr>
                        <a:t>기한 안에 차선을 옮김</a:t>
                      </a:r>
                    </a:p>
                  </a:txBody>
                  <a:tcPr marL="109728" marR="73152" marT="27432" marB="27432" anchor="ctr">
                    <a:solidFill>
                      <a:srgbClr val="FFF4D6"/>
                    </a:solidFill>
                  </a:tcPr>
                </a:tc>
              </a:tr>
              <a:tr h="548640">
                <a:tc>
                  <a:txBody>
                    <a:bodyPr/>
                    <a:lstStyle/>
                    <a:p>
                      <a:r>
                        <a:rPr sz="1300" b="1" i="0">
                          <a:solidFill>
                            <a:srgbClr val="0B6E4F"/>
                          </a:solidFill>
                          <a:latin typeface="Apple SD Gothic Neo"/>
                          <a:ea typeface="Apple SD Gothic Neo"/>
                          <a:cs typeface="Apple SD Gothic Neo"/>
                        </a:rPr>
                        <a:t>route.lane_ok</a:t>
                      </a:r>
                    </a:p>
                  </a:txBody>
                  <a:tcPr marL="109728" marR="73152" marT="27432" marB="27432" anchor="ctr">
                    <a:solidFill>
                      <a:srgbClr val="FFF4D6"/>
                    </a:solidFill>
                  </a:tcPr>
                </a:tc>
                <a:tc>
                  <a:txBody>
                    <a:bodyPr/>
                    <a:lstStyle/>
                    <a:p>
                      <a:r>
                        <a:rPr sz="1300" b="0" i="0">
                          <a:solidFill>
                            <a:srgbClr val="1F2328"/>
                          </a:solidFill>
                          <a:latin typeface="Apple SD Gothic Neo"/>
                          <a:ea typeface="Apple SD Gothic Neo"/>
                          <a:cs typeface="Apple SD Gothic Neo"/>
                        </a:rPr>
                        <a:t>참/거짓</a:t>
                      </a:r>
                    </a:p>
                  </a:txBody>
                  <a:tcPr marL="109728" marR="73152" marT="27432" marB="27432" anchor="ctr">
                    <a:solidFill>
                      <a:srgbClr val="FFF4D6"/>
                    </a:solidFill>
                  </a:tcPr>
                </a:tc>
                <a:tc>
                  <a:txBody>
                    <a:bodyPr/>
                    <a:lstStyle/>
                    <a:p>
                      <a:r>
                        <a:rPr sz="1300" b="0" i="0">
                          <a:solidFill>
                            <a:srgbClr val="1F2328"/>
                          </a:solidFill>
                          <a:latin typeface="Apple SD Gothic Neo"/>
                          <a:ea typeface="Apple SD Gothic Neo"/>
                          <a:cs typeface="Apple SD Gothic Neo"/>
                        </a:rPr>
                        <a:t>경로로 이어지는 차선에 있음</a:t>
                      </a:r>
                    </a:p>
                  </a:txBody>
                  <a:tcPr marL="109728" marR="73152" marT="27432" marB="27432" anchor="ctr">
                    <a:solidFill>
                      <a:srgbClr val="FFF4D6"/>
                    </a:solidFill>
                  </a:tcPr>
                </a:tc>
              </a:tr>
              <a:tr h="548640">
                <a:tc>
                  <a:txBody>
                    <a:bodyPr/>
                    <a:lstStyle/>
                    <a:p>
                      <a:r>
                        <a:rPr sz="1300" b="1" i="0">
                          <a:solidFill>
                            <a:srgbClr val="0B6E4F"/>
                          </a:solidFill>
                          <a:latin typeface="Apple SD Gothic Neo"/>
                          <a:ea typeface="Apple SD Gothic Neo"/>
                          <a:cs typeface="Apple SD Gothic Neo"/>
                        </a:rPr>
                        <a:t>ego.stopped_time</a:t>
                      </a:r>
                    </a:p>
                  </a:txBody>
                  <a:tcPr marL="109728" marR="73152" marT="27432" marB="27432" anchor="ctr">
                    <a:solidFill>
                      <a:srgbClr val="FFF4D6"/>
                    </a:solidFill>
                  </a:tcPr>
                </a:tc>
                <a:tc>
                  <a:txBody>
                    <a:bodyPr/>
                    <a:lstStyle/>
                    <a:p>
                      <a:r>
                        <a:rPr sz="1300" b="0" i="0">
                          <a:solidFill>
                            <a:srgbClr val="1F2328"/>
                          </a:solidFill>
                          <a:latin typeface="Apple SD Gothic Neo"/>
                          <a:ea typeface="Apple SD Gothic Neo"/>
                          <a:cs typeface="Apple SD Gothic Neo"/>
                        </a:rPr>
                        <a:t>초</a:t>
                      </a:r>
                    </a:p>
                  </a:txBody>
                  <a:tcPr marL="109728" marR="73152" marT="27432" marB="27432" anchor="ctr">
                    <a:solidFill>
                      <a:srgbClr val="FFF4D6"/>
                    </a:solidFill>
                  </a:tcPr>
                </a:tc>
                <a:tc>
                  <a:txBody>
                    <a:bodyPr/>
                    <a:lstStyle/>
                    <a:p>
                      <a:r>
                        <a:rPr sz="1300" b="0" i="0">
                          <a:solidFill>
                            <a:srgbClr val="1F2328"/>
                          </a:solidFill>
                          <a:latin typeface="Apple SD Gothic Neo"/>
                          <a:ea typeface="Apple SD Gothic Neo"/>
                          <a:cs typeface="Apple SD Gothic Neo"/>
                        </a:rPr>
                        <a:t>비정상 정지·무한 대기 없음</a:t>
                      </a:r>
                    </a:p>
                  </a:txBody>
                  <a:tcPr marL="109728" marR="73152" marT="27432" marB="27432" anchor="ctr">
                    <a:solidFill>
                      <a:srgbClr val="FFF4D6"/>
                    </a:solidFill>
                  </a:tcPr>
                </a:tc>
              </a:tr>
              <a:tr h="548640">
                <a:tc>
                  <a:txBody>
                    <a:bodyPr/>
                    <a:lstStyle/>
                    <a:p>
                      <a:r>
                        <a:rPr sz="1300" b="1" i="0">
                          <a:solidFill>
                            <a:srgbClr val="0B6E4F"/>
                          </a:solidFill>
                          <a:latin typeface="Apple SD Gothic Neo"/>
                          <a:ea typeface="Apple SD Gothic Neo"/>
                          <a:cs typeface="Apple SD Gothic Neo"/>
                        </a:rPr>
                        <a:t>traffic.n_nearby</a:t>
                      </a:r>
                    </a:p>
                  </a:txBody>
                  <a:tcPr marL="109728" marR="73152" marT="27432" marB="27432" anchor="ctr">
                    <a:solidFill>
                      <a:srgbClr val="FFF4D6"/>
                    </a:solidFill>
                  </a:tcPr>
                </a:tc>
                <a:tc>
                  <a:txBody>
                    <a:bodyPr/>
                    <a:lstStyle/>
                    <a:p>
                      <a:r>
                        <a:rPr sz="1300" b="0" i="0">
                          <a:solidFill>
                            <a:srgbClr val="1F2328"/>
                          </a:solidFill>
                          <a:latin typeface="Apple SD Gothic Neo"/>
                          <a:ea typeface="Apple SD Gothic Neo"/>
                          <a:cs typeface="Apple SD Gothic Neo"/>
                        </a:rPr>
                        <a:t>대 (50 m 이내)</a:t>
                      </a:r>
                    </a:p>
                  </a:txBody>
                  <a:tcPr marL="109728" marR="73152" marT="27432" marB="27432" anchor="ctr">
                    <a:solidFill>
                      <a:srgbClr val="FFF4D6"/>
                    </a:solidFill>
                  </a:tcPr>
                </a:tc>
                <a:tc>
                  <a:txBody>
                    <a:bodyPr/>
                    <a:lstStyle/>
                    <a:p>
                      <a:r>
                        <a:rPr sz="1300" b="0" i="0">
                          <a:solidFill>
                            <a:srgbClr val="1F2328"/>
                          </a:solidFill>
                          <a:latin typeface="Apple SD Gothic Neo"/>
                          <a:ea typeface="Apple SD Gothic Neo"/>
                          <a:cs typeface="Apple SD Gothic Neo"/>
                        </a:rPr>
                        <a:t>평가 시 일반 차량 충분</a:t>
                      </a:r>
                    </a:p>
                  </a:txBody>
                  <a:tcPr marL="109728" marR="73152" marT="27432" marB="27432" anchor="ctr">
                    <a:solidFill>
                      <a:srgbClr val="FFF4D6"/>
                    </a:solidFill>
                  </a:tcPr>
                </a:tc>
              </a:tr>
            </a:tbl>
          </a:graphicData>
        </a:graphic>
      </p:graphicFrame>
      <p:sp>
        <p:nvSpPr>
          <p:cNvPr id="8" name="TextBox 7"/>
          <p:cNvSpPr txBox="1"/>
          <p:nvPr/>
        </p:nvSpPr>
        <p:spPr>
          <a:xfrm>
            <a:off x="4709160" y="4983480"/>
            <a:ext cx="6949440" cy="777240"/>
          </a:xfrm>
          <a:prstGeom prst="rect">
            <a:avLst/>
          </a:prstGeom>
          <a:noFill/>
        </p:spPr>
        <p:txBody>
          <a:bodyPr wrap="square" anchor="t" lIns="0" rIns="0" tIns="0" bIns="0">
            <a:spAutoFit/>
          </a:bodyPr>
          <a:lstStyle/>
          <a:p>
            <a:pPr algn="l"/>
            <a:r>
              <a:rPr sz="1300" b="1" i="0">
                <a:solidFill>
                  <a:srgbClr val="0B6E4F"/>
                </a:solidFill>
                <a:latin typeface="Apple SD Gothic Neo"/>
                <a:ea typeface="Apple SD Gothic Neo"/>
                <a:cs typeface="Apple SD Gothic Neo"/>
              </a:rPr>
              <a:t>확장 계획  </a:t>
            </a:r>
            <a:r>
              <a:rPr sz="1300" b="0" i="0">
                <a:solidFill>
                  <a:srgbClr val="1F2328"/>
                </a:solidFill>
                <a:latin typeface="Apple SD Gothic Neo"/>
                <a:ea typeface="Apple SD Gothic Neo"/>
                <a:cs typeface="Apple SD Gothic Neo"/>
              </a:rPr>
              <a:t>앞뒤 차량 ID(끼어들기·양보), 충돌 예상 시간, 신호 상태, 위도·경도</a:t>
            </a:r>
          </a:p>
          <a:p>
            <a:pPr algn="l"/>
            <a:r>
              <a:rPr sz="1300" b="1" i="0">
                <a:solidFill>
                  <a:srgbClr val="0B6E4F"/>
                </a:solidFill>
                <a:latin typeface="Apple SD Gothic Neo"/>
                <a:ea typeface="Apple SD Gothic Neo"/>
                <a:cs typeface="Apple SD Gothic Neo"/>
              </a:rPr>
              <a:t>에피소드 정보  </a:t>
            </a:r>
            <a:r>
              <a:rPr sz="1300" b="0" i="0">
                <a:solidFill>
                  <a:srgbClr val="1F2328"/>
                </a:solidFill>
                <a:latin typeface="Apple SD Gothic Neo"/>
                <a:ea typeface="Apple SD Gothic Neo"/>
                <a:cs typeface="Apple SD Gothic Neo"/>
              </a:rPr>
              <a:t>구간, 교통량, 차량 구성, 정책, 결과, 순간이동 수</a:t>
            </a:r>
          </a:p>
        </p:txBody>
      </p:sp>
      <p:sp>
        <p:nvSpPr>
          <p:cNvPr id="9" name="TextBox 8"/>
          <p:cNvSpPr txBox="1"/>
          <p:nvPr/>
        </p:nvSpPr>
        <p:spPr>
          <a:xfrm>
            <a:off x="548640" y="5989320"/>
            <a:ext cx="11064240" cy="457200"/>
          </a:xfrm>
          <a:prstGeom prst="rect">
            <a:avLst/>
          </a:prstGeom>
          <a:noFill/>
        </p:spPr>
        <p:txBody>
          <a:bodyPr wrap="square" anchor="t" lIns="0" rIns="0" tIns="0" bIns="0">
            <a:spAutoFit/>
          </a:bodyPr>
          <a:lstStyle/>
          <a:p>
            <a:pPr algn="l"/>
            <a:r>
              <a:rPr sz="1400" b="1" i="0">
                <a:solidFill>
                  <a:srgbClr val="0B6E4F"/>
                </a:solidFill>
                <a:latin typeface="Apple SD Gothic Neo"/>
                <a:ea typeface="Apple SD Gothic Neo"/>
                <a:cs typeface="Apple SD Gothic Neo"/>
              </a:rPr>
              <a:t>저장  </a:t>
            </a:r>
            <a:r>
              <a:rPr sz="1400" b="0" i="0">
                <a:solidFill>
                  <a:srgbClr val="1F2328"/>
                </a:solidFill>
                <a:latin typeface="Apple SD Gothic Neo"/>
                <a:ea typeface="Apple SD Gothic Neo"/>
                <a:cs typeface="Apple SD Gothic Neo"/>
              </a:rPr>
              <a:t>NPZ + JSONL.GZ → Hugging Face, 구간·정책별 폴더     </a:t>
            </a:r>
            <a:r>
              <a:rPr sz="1400" b="1" i="0">
                <a:solidFill>
                  <a:srgbClr val="0B6E4F"/>
                </a:solidFill>
                <a:latin typeface="Apple SD Gothic Neo"/>
                <a:ea typeface="Apple SD Gothic Neo"/>
                <a:cs typeface="Apple SD Gothic Neo"/>
              </a:rPr>
              <a:t>규모  </a:t>
            </a:r>
            <a:r>
              <a:rPr sz="1400" b="0" i="0">
                <a:solidFill>
                  <a:srgbClr val="1F2328"/>
                </a:solidFill>
                <a:latin typeface="Apple SD Gothic Neo"/>
                <a:ea typeface="Apple SD Gothic Neo"/>
                <a:cs typeface="Apple SD Gothic Neo"/>
              </a:rPr>
              <a:t>1,000만 개 이상 (교통량·정책 조건을 바꿔 수집)</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