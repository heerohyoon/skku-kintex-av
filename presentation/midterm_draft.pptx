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[팀 이름]입니다. 저희는 이번 학기 수업 일정에 있는 킨텍스 로봇박람회 견학에서 착안해, 성균관대 자연과학캠퍼스에서 일산 킨텍스까지 실제로 가는 59.4km 경로를 자율주행 환경으로 만듭니다. 역할은 오른쪽과 같이 도로 구축 두 명, 일반 차량과 데이터 한 명, AV 학습과 평가 한 명으로 나눴습니다. (약 20초)</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길을 고른 이유는 세 가지입니다. 첫째, 수업에서 실제로 가는 길입니다. 둘째, 캠퍼스 앞 도심 교차로부터 고속도로, 서부간선지하도로, 한강 횡단, 자유로까지 수도권 도로 유형이 한 경로에 다 있습니다. 셋째, 합류와 분기가 23곳이라 출구를 놓치면 목적지에 갈 수 없습니다. 즉 차선을 언제 바꿀지가 핵심인 도로입니다. (약 35초)</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60km를 통째로 학습하면 한 에피소드가 한 시간이 넘고, 23곳을 모두 무사히 지나야 해서 충돌률 5%를 맞추기 어렵습니다. 그래서 성격이 다른 대표 구간 네 곳을 골랐습니다. 출발 구간은 신호 교차로와 고속도로 진입, 분기 구간은 지상·지하도로 갈림길, 한강 구간은 성산대교와 강변북로 합류, 도착 구간은 자유로 진출과 킨텍스 도착입니다. OpenStreetMap을 SUMO로 변환한 뒤, 지도 데이터에 빠진 차선 수와 신호를 로드뷰로 보정합니다. (약 40초)</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구조마다 생기는 상호작용과 AV의 결정을 정리했습니다. 합류에서는 합류 시점과 속도, 분기와 출구에서는 언제 출구 차선으로 옮길지, 한강 구간의 엇갈림에서는 양보할지 들어갈지, 신호 교차로에서는 정지와 출발을 결정해야 합니다. 지금 기본 관측에는 목표 출구와 신호 정보가 없어서, 이 세 가지를 관측에 추가할 계획입니다. (약 40초)</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데이터는 제공된 기본 수집 코드의 항목을 모두 포함하고, 교수님이 필수라고 하신 절대 상태로 AV와 모든 차량의 위치, 속도, 차선을 저장합니다. 여기에 구간 번호, 경로 진행 거리, 출구까지 거리와 목표 차선, 신호 상태를 추가로 제안합니다. 학습용은 NPZ, 전체 상태는 JSONL로 저장해 허깅페이스에 올리고, 네 구간을 병렬로 수집해 10의 7승 개 이상을 모을 계획입니다. 감사합니다. (약 40초)</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TextBox 1"/>
          <p:cNvSpPr txBox="1"/>
          <p:nvPr/>
        </p:nvSpPr>
        <p:spPr>
          <a:xfrm>
            <a:off x="640080" y="685800"/>
            <a:ext cx="6583680" cy="365760"/>
          </a:xfrm>
          <a:prstGeom prst="rect">
            <a:avLst/>
          </a:prstGeom>
          <a:noFill/>
        </p:spPr>
        <p:txBody>
          <a:bodyPr wrap="square" anchor="t" lIns="0" rIns="0" tIns="0" bIns="0">
            <a:spAutoFit/>
          </a:bodyPr>
          <a:lstStyle/>
          <a:p>
            <a:pPr algn="l"/>
            <a:r>
              <a:rPr sz="1500" b="0" i="0">
                <a:solidFill>
                  <a:srgbClr val="F2A900"/>
                </a:solidFill>
                <a:latin typeface="Apple SD Gothic Neo"/>
                <a:ea typeface="Apple SD Gothic Neo"/>
                <a:cs typeface="Apple SD Gothic Neo"/>
              </a:rPr>
              <a:t>자율주행 인공지능 및 제어  ·  중간발표</a:t>
            </a:r>
          </a:p>
        </p:txBody>
      </p:sp>
      <p:sp>
        <p:nvSpPr>
          <p:cNvPr id="3" name="TextBox 2"/>
          <p:cNvSpPr txBox="1"/>
          <p:nvPr/>
        </p:nvSpPr>
        <p:spPr>
          <a:xfrm>
            <a:off x="640080" y="1234440"/>
            <a:ext cx="6583680" cy="2103120"/>
          </a:xfrm>
          <a:prstGeom prst="rect">
            <a:avLst/>
          </a:prstGeom>
          <a:noFill/>
        </p:spPr>
        <p:txBody>
          <a:bodyPr wrap="square" anchor="t" lIns="0" rIns="0" tIns="0" bIns="0">
            <a:spAutoFit/>
          </a:bodyPr>
          <a:lstStyle/>
          <a:p>
            <a:pPr algn="l"/>
            <a:r>
              <a:rPr sz="4000" b="1" i="0">
                <a:solidFill>
                  <a:srgbClr val="FFFFFF"/>
                </a:solidFill>
                <a:latin typeface="Apple SD Gothic Neo"/>
                <a:ea typeface="Apple SD Gothic Neo"/>
                <a:cs typeface="Apple SD Gothic Neo"/>
              </a:rPr>
              <a:t>로봇박람회 가는 길을</a:t>
            </a:r>
          </a:p>
          <a:p>
            <a:pPr algn="l"/>
            <a:r>
              <a:rPr sz="4000" b="1" i="0">
                <a:solidFill>
                  <a:srgbClr val="FFFFFF"/>
                </a:solidFill>
                <a:latin typeface="Apple SD Gothic Neo"/>
                <a:ea typeface="Apple SD Gothic Neo"/>
                <a:cs typeface="Apple SD Gothic Neo"/>
              </a:rPr>
              <a:t>자율주행차가 달린다</a:t>
            </a:r>
          </a:p>
        </p:txBody>
      </p:sp>
      <p:sp>
        <p:nvSpPr>
          <p:cNvPr id="4" name="TextBox 3"/>
          <p:cNvSpPr txBox="1"/>
          <p:nvPr/>
        </p:nvSpPr>
        <p:spPr>
          <a:xfrm>
            <a:off x="640080" y="3246120"/>
            <a:ext cx="6400800" cy="914400"/>
          </a:xfrm>
          <a:prstGeom prst="rect">
            <a:avLst/>
          </a:prstGeom>
          <a:noFill/>
        </p:spPr>
        <p:txBody>
          <a:bodyPr wrap="square" anchor="t" lIns="0" rIns="0" tIns="0" bIns="0">
            <a:spAutoFit/>
          </a:bodyPr>
          <a:lstStyle/>
          <a:p>
            <a:pPr algn="l"/>
            <a:r>
              <a:rPr sz="1800" b="0" i="0">
                <a:solidFill>
                  <a:srgbClr val="C9D1D9"/>
                </a:solidFill>
                <a:latin typeface="Apple SD Gothic Neo"/>
                <a:ea typeface="Apple SD Gothic Neo"/>
                <a:cs typeface="Apple SD Gothic Neo"/>
              </a:rPr>
              <a:t>성균관대 자연과학캠퍼스  →  일산 킨텍스  ·  59.4 km</a:t>
            </a:r>
          </a:p>
        </p:txBody>
      </p:sp>
      <p:sp>
        <p:nvSpPr>
          <p:cNvPr id="5" name="TextBox 4"/>
          <p:cNvSpPr txBox="1"/>
          <p:nvPr/>
        </p:nvSpPr>
        <p:spPr>
          <a:xfrm>
            <a:off x="640080" y="4416552"/>
            <a:ext cx="1280160" cy="457200"/>
          </a:xfrm>
          <a:prstGeom prst="rect">
            <a:avLst/>
          </a:prstGeom>
          <a:noFill/>
        </p:spPr>
        <p:txBody>
          <a:bodyPr wrap="square" anchor="ctr" lIns="0" rIns="0" tIns="0" bIns="0">
            <a:spAutoFit/>
          </a:bodyPr>
          <a:lstStyle/>
          <a:p>
            <a:pPr algn="l"/>
            <a:r>
              <a:rPr sz="1500" b="1" i="0">
                <a:solidFill>
                  <a:srgbClr val="FFFFFF"/>
                </a:solidFill>
                <a:latin typeface="Apple SD Gothic Neo"/>
                <a:ea typeface="Apple SD Gothic Neo"/>
                <a:cs typeface="Apple SD Gothic Neo"/>
              </a:rPr>
              <a:t>수원</a:t>
            </a:r>
          </a:p>
        </p:txBody>
      </p:sp>
      <p:sp>
        <p:nvSpPr>
          <p:cNvPr id="6" name="badge_1"/>
          <p:cNvSpPr/>
          <p:nvPr/>
        </p:nvSpPr>
        <p:spPr>
          <a:xfrm>
            <a:off x="1508760" y="4434840"/>
            <a:ext cx="420624" cy="420624"/>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1F2328"/>
                </a:solidFill>
                <a:latin typeface="Apple SD Gothic Neo"/>
                <a:ea typeface="Apple SD Gothic Neo"/>
                <a:cs typeface="Apple SD Gothic Neo"/>
              </a:rPr>
              <a:t>1</a:t>
            </a:r>
          </a:p>
        </p:txBody>
      </p:sp>
      <p:cxnSp>
        <p:nvCxnSpPr>
          <p:cNvPr id="7" name="Connector 6"/>
          <p:cNvCxnSpPr/>
          <p:nvPr/>
        </p:nvCxnSpPr>
        <p:spPr>
          <a:xfrm>
            <a:off x="1965960" y="4645152"/>
            <a:ext cx="649224" cy="0"/>
          </a:xfrm>
          <a:prstGeom prst="line">
            <a:avLst/>
          </a:prstGeom>
          <a:ln w="38100">
            <a:solidFill>
              <a:srgbClr val="0B6E4F"/>
            </a:solidFill>
          </a:ln>
        </p:spPr>
        <p:style>
          <a:lnRef idx="2">
            <a:schemeClr val="accent1"/>
          </a:lnRef>
          <a:fillRef idx="0">
            <a:schemeClr val="accent1"/>
          </a:fillRef>
          <a:effectRef idx="1">
            <a:schemeClr val="accent1"/>
          </a:effectRef>
          <a:fontRef idx="minor">
            <a:schemeClr val="tx1"/>
          </a:fontRef>
        </p:style>
      </p:cxnSp>
      <p:sp>
        <p:nvSpPr>
          <p:cNvPr id="8" name="badge_2"/>
          <p:cNvSpPr/>
          <p:nvPr/>
        </p:nvSpPr>
        <p:spPr>
          <a:xfrm>
            <a:off x="2651760" y="4434840"/>
            <a:ext cx="420624" cy="420624"/>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1F2328"/>
                </a:solidFill>
                <a:latin typeface="Apple SD Gothic Neo"/>
                <a:ea typeface="Apple SD Gothic Neo"/>
                <a:cs typeface="Apple SD Gothic Neo"/>
              </a:rPr>
              <a:t>2</a:t>
            </a:r>
          </a:p>
        </p:txBody>
      </p:sp>
      <p:cxnSp>
        <p:nvCxnSpPr>
          <p:cNvPr id="9" name="Connector 8"/>
          <p:cNvCxnSpPr/>
          <p:nvPr/>
        </p:nvCxnSpPr>
        <p:spPr>
          <a:xfrm>
            <a:off x="3108960" y="4645152"/>
            <a:ext cx="649224" cy="0"/>
          </a:xfrm>
          <a:prstGeom prst="line">
            <a:avLst/>
          </a:prstGeom>
          <a:ln w="38100">
            <a:solidFill>
              <a:srgbClr val="0B6E4F"/>
            </a:solidFill>
          </a:ln>
        </p:spPr>
        <p:style>
          <a:lnRef idx="2">
            <a:schemeClr val="accent1"/>
          </a:lnRef>
          <a:fillRef idx="0">
            <a:schemeClr val="accent1"/>
          </a:fillRef>
          <a:effectRef idx="1">
            <a:schemeClr val="accent1"/>
          </a:effectRef>
          <a:fontRef idx="minor">
            <a:schemeClr val="tx1"/>
          </a:fontRef>
        </p:style>
      </p:cxnSp>
      <p:sp>
        <p:nvSpPr>
          <p:cNvPr id="10" name="badge_3"/>
          <p:cNvSpPr/>
          <p:nvPr/>
        </p:nvSpPr>
        <p:spPr>
          <a:xfrm>
            <a:off x="3794760" y="4434840"/>
            <a:ext cx="420624" cy="420624"/>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1F2328"/>
                </a:solidFill>
                <a:latin typeface="Apple SD Gothic Neo"/>
                <a:ea typeface="Apple SD Gothic Neo"/>
                <a:cs typeface="Apple SD Gothic Neo"/>
              </a:rPr>
              <a:t>3</a:t>
            </a:r>
          </a:p>
        </p:txBody>
      </p:sp>
      <p:cxnSp>
        <p:nvCxnSpPr>
          <p:cNvPr id="11" name="Connector 10"/>
          <p:cNvCxnSpPr/>
          <p:nvPr/>
        </p:nvCxnSpPr>
        <p:spPr>
          <a:xfrm>
            <a:off x="4251960" y="4645152"/>
            <a:ext cx="649224" cy="0"/>
          </a:xfrm>
          <a:prstGeom prst="line">
            <a:avLst/>
          </a:prstGeom>
          <a:ln w="38100">
            <a:solidFill>
              <a:srgbClr val="0B6E4F"/>
            </a:solidFill>
          </a:ln>
        </p:spPr>
        <p:style>
          <a:lnRef idx="2">
            <a:schemeClr val="accent1"/>
          </a:lnRef>
          <a:fillRef idx="0">
            <a:schemeClr val="accent1"/>
          </a:fillRef>
          <a:effectRef idx="1">
            <a:schemeClr val="accent1"/>
          </a:effectRef>
          <a:fontRef idx="minor">
            <a:schemeClr val="tx1"/>
          </a:fontRef>
        </p:style>
      </p:cxnSp>
      <p:sp>
        <p:nvSpPr>
          <p:cNvPr id="12" name="badge_4"/>
          <p:cNvSpPr/>
          <p:nvPr/>
        </p:nvSpPr>
        <p:spPr>
          <a:xfrm>
            <a:off x="4937760" y="4434840"/>
            <a:ext cx="420624" cy="420624"/>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1F2328"/>
                </a:solidFill>
                <a:latin typeface="Apple SD Gothic Neo"/>
                <a:ea typeface="Apple SD Gothic Neo"/>
                <a:cs typeface="Apple SD Gothic Neo"/>
              </a:rPr>
              <a:t>4</a:t>
            </a:r>
          </a:p>
        </p:txBody>
      </p:sp>
      <p:sp>
        <p:nvSpPr>
          <p:cNvPr id="13" name="TextBox 12"/>
          <p:cNvSpPr txBox="1"/>
          <p:nvPr/>
        </p:nvSpPr>
        <p:spPr>
          <a:xfrm>
            <a:off x="6080760" y="4416552"/>
            <a:ext cx="1371600" cy="457200"/>
          </a:xfrm>
          <a:prstGeom prst="rect">
            <a:avLst/>
          </a:prstGeom>
          <a:noFill/>
        </p:spPr>
        <p:txBody>
          <a:bodyPr wrap="square" anchor="ctr" lIns="0" rIns="0" tIns="0" bIns="0">
            <a:spAutoFit/>
          </a:bodyPr>
          <a:lstStyle/>
          <a:p>
            <a:pPr algn="l"/>
            <a:r>
              <a:rPr sz="1500" b="1" i="0">
                <a:solidFill>
                  <a:srgbClr val="FFFFFF"/>
                </a:solidFill>
                <a:latin typeface="Apple SD Gothic Neo"/>
                <a:ea typeface="Apple SD Gothic Neo"/>
                <a:cs typeface="Apple SD Gothic Neo"/>
              </a:rPr>
              <a:t>킨텍스</a:t>
            </a:r>
          </a:p>
        </p:txBody>
      </p:sp>
      <p:sp>
        <p:nvSpPr>
          <p:cNvPr id="14" name="TextBox 13"/>
          <p:cNvSpPr txBox="1"/>
          <p:nvPr/>
        </p:nvSpPr>
        <p:spPr>
          <a:xfrm>
            <a:off x="640080" y="5074920"/>
            <a:ext cx="6400800" cy="365760"/>
          </a:xfrm>
          <a:prstGeom prst="rect">
            <a:avLst/>
          </a:prstGeom>
          <a:noFill/>
        </p:spPr>
        <p:txBody>
          <a:bodyPr wrap="square" anchor="t" lIns="0" rIns="0" tIns="0" bIns="0">
            <a:spAutoFit/>
          </a:bodyPr>
          <a:lstStyle/>
          <a:p>
            <a:pPr algn="l"/>
            <a:r>
              <a:rPr sz="1600" b="1" i="0">
                <a:solidFill>
                  <a:srgbClr val="F2A900"/>
                </a:solidFill>
                <a:latin typeface="Apple SD Gothic Neo"/>
                <a:ea typeface="Apple SD Gothic Neo"/>
                <a:cs typeface="Apple SD Gothic Neo"/>
              </a:rPr>
              <a:t>팀 [팀 이름]</a:t>
            </a:r>
          </a:p>
        </p:txBody>
      </p:sp>
      <p:sp>
        <p:nvSpPr>
          <p:cNvPr id="15" name="team_card"/>
          <p:cNvSpPr/>
          <p:nvPr/>
        </p:nvSpPr>
        <p:spPr>
          <a:xfrm>
            <a:off x="7635240" y="822960"/>
            <a:ext cx="3931920" cy="5029200"/>
          </a:xfrm>
          <a:prstGeom prst="roundRect">
            <a:avLst>
              <a:gd name="adj" fmla="val 5000"/>
            </a:avLst>
          </a:prstGeom>
          <a:solidFill>
            <a:srgbClr val="2A30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55279" y="1097280"/>
            <a:ext cx="3383280" cy="457200"/>
          </a:xfrm>
          <a:prstGeom prst="rect">
            <a:avLst/>
          </a:prstGeom>
          <a:noFill/>
        </p:spPr>
        <p:txBody>
          <a:bodyPr wrap="square" anchor="t" lIns="0" rIns="0" tIns="0" bIns="0">
            <a:spAutoFit/>
          </a:bodyPr>
          <a:lstStyle/>
          <a:p>
            <a:pPr algn="l"/>
            <a:r>
              <a:rPr sz="1800" b="1" i="0">
                <a:solidFill>
                  <a:srgbClr val="FFFFFF"/>
                </a:solidFill>
                <a:latin typeface="Apple SD Gothic Neo"/>
                <a:ea typeface="Apple SD Gothic Neo"/>
                <a:cs typeface="Apple SD Gothic Neo"/>
              </a:rPr>
              <a:t>역할 분담</a:t>
            </a:r>
          </a:p>
        </p:txBody>
      </p:sp>
      <p:sp>
        <p:nvSpPr>
          <p:cNvPr id="17" name="badge_A"/>
          <p:cNvSpPr/>
          <p:nvPr/>
        </p:nvSpPr>
        <p:spPr>
          <a:xfrm>
            <a:off x="7955279" y="1828800"/>
            <a:ext cx="384048" cy="384048"/>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Apple SD Gothic Neo"/>
                <a:ea typeface="Apple SD Gothic Neo"/>
                <a:cs typeface="Apple SD Gothic Neo"/>
              </a:rPr>
              <a:t>A</a:t>
            </a:r>
          </a:p>
        </p:txBody>
      </p:sp>
      <p:sp>
        <p:nvSpPr>
          <p:cNvPr id="18" name="TextBox 17"/>
          <p:cNvSpPr txBox="1"/>
          <p:nvPr/>
        </p:nvSpPr>
        <p:spPr>
          <a:xfrm>
            <a:off x="8503920" y="1764792"/>
            <a:ext cx="2926080" cy="1005840"/>
          </a:xfrm>
          <a:prstGeom prst="rect">
            <a:avLst/>
          </a:prstGeom>
          <a:noFill/>
        </p:spPr>
        <p:txBody>
          <a:bodyPr wrap="square" anchor="t" lIns="0" rIns="0" tIns="0" bIns="0">
            <a:spAutoFit/>
          </a:bodyPr>
          <a:lstStyle/>
          <a:p>
            <a:pPr algn="l"/>
            <a:r>
              <a:rPr sz="1500" b="1" i="0">
                <a:solidFill>
                  <a:srgbClr val="FFFFFF"/>
                </a:solidFill>
                <a:latin typeface="Apple SD Gothic Neo"/>
                <a:ea typeface="Apple SD Gothic Neo"/>
                <a:cs typeface="Apple SD Gothic Neo"/>
              </a:rPr>
              <a:t>[이름]  </a:t>
            </a:r>
            <a:r>
              <a:rPr sz="1500" b="0" i="0">
                <a:solidFill>
                  <a:srgbClr val="F2A900"/>
                </a:solidFill>
                <a:latin typeface="Apple SD Gothic Neo"/>
                <a:ea typeface="Apple SD Gothic Neo"/>
                <a:cs typeface="Apple SD Gothic Neo"/>
              </a:rPr>
              <a:t>도로 구축 · 구간 1, 2</a:t>
            </a:r>
          </a:p>
          <a:p>
            <a:pPr algn="l"/>
            <a:r>
              <a:rPr sz="1300" b="0" i="0">
                <a:solidFill>
                  <a:srgbClr val="B8C1CB"/>
                </a:solidFill>
                <a:latin typeface="Apple SD Gothic Neo"/>
                <a:ea typeface="Apple SD Gothic Neo"/>
                <a:cs typeface="Apple SD Gothic Neo"/>
              </a:rPr>
              <a:t>지도 변환, 차선·신호 보정</a:t>
            </a:r>
          </a:p>
        </p:txBody>
      </p:sp>
      <p:sp>
        <p:nvSpPr>
          <p:cNvPr id="19" name="badge_B"/>
          <p:cNvSpPr/>
          <p:nvPr/>
        </p:nvSpPr>
        <p:spPr>
          <a:xfrm>
            <a:off x="7955279" y="2834639"/>
            <a:ext cx="384048" cy="384048"/>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Apple SD Gothic Neo"/>
                <a:ea typeface="Apple SD Gothic Neo"/>
                <a:cs typeface="Apple SD Gothic Neo"/>
              </a:rPr>
              <a:t>B</a:t>
            </a:r>
          </a:p>
        </p:txBody>
      </p:sp>
      <p:sp>
        <p:nvSpPr>
          <p:cNvPr id="20" name="TextBox 19"/>
          <p:cNvSpPr txBox="1"/>
          <p:nvPr/>
        </p:nvSpPr>
        <p:spPr>
          <a:xfrm>
            <a:off x="8503920" y="2770632"/>
            <a:ext cx="2926080" cy="1005840"/>
          </a:xfrm>
          <a:prstGeom prst="rect">
            <a:avLst/>
          </a:prstGeom>
          <a:noFill/>
        </p:spPr>
        <p:txBody>
          <a:bodyPr wrap="square" anchor="t" lIns="0" rIns="0" tIns="0" bIns="0">
            <a:spAutoFit/>
          </a:bodyPr>
          <a:lstStyle/>
          <a:p>
            <a:pPr algn="l"/>
            <a:r>
              <a:rPr sz="1500" b="1" i="0">
                <a:solidFill>
                  <a:srgbClr val="FFFFFF"/>
                </a:solidFill>
                <a:latin typeface="Apple SD Gothic Neo"/>
                <a:ea typeface="Apple SD Gothic Neo"/>
                <a:cs typeface="Apple SD Gothic Neo"/>
              </a:rPr>
              <a:t>[이름]  </a:t>
            </a:r>
            <a:r>
              <a:rPr sz="1500" b="0" i="0">
                <a:solidFill>
                  <a:srgbClr val="F2A900"/>
                </a:solidFill>
                <a:latin typeface="Apple SD Gothic Neo"/>
                <a:ea typeface="Apple SD Gothic Neo"/>
                <a:cs typeface="Apple SD Gothic Neo"/>
              </a:rPr>
              <a:t>도로 구축 · 구간 3, 4</a:t>
            </a:r>
          </a:p>
          <a:p>
            <a:pPr algn="l"/>
            <a:r>
              <a:rPr sz="1300" b="0" i="0">
                <a:solidFill>
                  <a:srgbClr val="B8C1CB"/>
                </a:solidFill>
                <a:latin typeface="Apple SD Gothic Neo"/>
                <a:ea typeface="Apple SD Gothic Neo"/>
                <a:cs typeface="Apple SD Gothic Neo"/>
              </a:rPr>
              <a:t>램프·분기 연결, 경로 검증</a:t>
            </a:r>
          </a:p>
        </p:txBody>
      </p:sp>
      <p:sp>
        <p:nvSpPr>
          <p:cNvPr id="21" name="badge_C"/>
          <p:cNvSpPr/>
          <p:nvPr/>
        </p:nvSpPr>
        <p:spPr>
          <a:xfrm>
            <a:off x="7955279" y="3840480"/>
            <a:ext cx="384048" cy="384048"/>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Apple SD Gothic Neo"/>
                <a:ea typeface="Apple SD Gothic Neo"/>
                <a:cs typeface="Apple SD Gothic Neo"/>
              </a:rPr>
              <a:t>C</a:t>
            </a:r>
          </a:p>
        </p:txBody>
      </p:sp>
      <p:sp>
        <p:nvSpPr>
          <p:cNvPr id="22" name="TextBox 21"/>
          <p:cNvSpPr txBox="1"/>
          <p:nvPr/>
        </p:nvSpPr>
        <p:spPr>
          <a:xfrm>
            <a:off x="8503920" y="3776472"/>
            <a:ext cx="2926080" cy="1005840"/>
          </a:xfrm>
          <a:prstGeom prst="rect">
            <a:avLst/>
          </a:prstGeom>
          <a:noFill/>
        </p:spPr>
        <p:txBody>
          <a:bodyPr wrap="square" anchor="t" lIns="0" rIns="0" tIns="0" bIns="0">
            <a:spAutoFit/>
          </a:bodyPr>
          <a:lstStyle/>
          <a:p>
            <a:pPr algn="l"/>
            <a:r>
              <a:rPr sz="1500" b="1" i="0">
                <a:solidFill>
                  <a:srgbClr val="FFFFFF"/>
                </a:solidFill>
                <a:latin typeface="Apple SD Gothic Neo"/>
                <a:ea typeface="Apple SD Gothic Neo"/>
                <a:cs typeface="Apple SD Gothic Neo"/>
              </a:rPr>
              <a:t>[이름]  </a:t>
            </a:r>
            <a:r>
              <a:rPr sz="1500" b="0" i="0">
                <a:solidFill>
                  <a:srgbClr val="F2A900"/>
                </a:solidFill>
                <a:latin typeface="Apple SD Gothic Neo"/>
                <a:ea typeface="Apple SD Gothic Neo"/>
                <a:cs typeface="Apple SD Gothic Neo"/>
              </a:rPr>
              <a:t>일반 차량 · 데이터</a:t>
            </a:r>
          </a:p>
          <a:p>
            <a:pPr algn="l"/>
            <a:r>
              <a:rPr sz="1300" b="0" i="0">
                <a:solidFill>
                  <a:srgbClr val="B8C1CB"/>
                </a:solidFill>
                <a:latin typeface="Apple SD Gothic Neo"/>
                <a:ea typeface="Apple SD Gothic Neo"/>
                <a:cs typeface="Apple SD Gothic Neo"/>
              </a:rPr>
              <a:t>교통량·경로 생성, 데이터 수집</a:t>
            </a:r>
          </a:p>
        </p:txBody>
      </p:sp>
      <p:sp>
        <p:nvSpPr>
          <p:cNvPr id="23" name="badge_D"/>
          <p:cNvSpPr/>
          <p:nvPr/>
        </p:nvSpPr>
        <p:spPr>
          <a:xfrm>
            <a:off x="7955279" y="4846320"/>
            <a:ext cx="384048" cy="384048"/>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Apple SD Gothic Neo"/>
                <a:ea typeface="Apple SD Gothic Neo"/>
                <a:cs typeface="Apple SD Gothic Neo"/>
              </a:rPr>
              <a:t>D</a:t>
            </a:r>
          </a:p>
        </p:txBody>
      </p:sp>
      <p:sp>
        <p:nvSpPr>
          <p:cNvPr id="24" name="TextBox 23"/>
          <p:cNvSpPr txBox="1"/>
          <p:nvPr/>
        </p:nvSpPr>
        <p:spPr>
          <a:xfrm>
            <a:off x="8503920" y="4782312"/>
            <a:ext cx="2926080" cy="1005840"/>
          </a:xfrm>
          <a:prstGeom prst="rect">
            <a:avLst/>
          </a:prstGeom>
          <a:noFill/>
        </p:spPr>
        <p:txBody>
          <a:bodyPr wrap="square" anchor="t" lIns="0" rIns="0" tIns="0" bIns="0">
            <a:spAutoFit/>
          </a:bodyPr>
          <a:lstStyle/>
          <a:p>
            <a:pPr algn="l"/>
            <a:r>
              <a:rPr sz="1500" b="1" i="0">
                <a:solidFill>
                  <a:srgbClr val="FFFFFF"/>
                </a:solidFill>
                <a:latin typeface="Apple SD Gothic Neo"/>
                <a:ea typeface="Apple SD Gothic Neo"/>
                <a:cs typeface="Apple SD Gothic Neo"/>
              </a:rPr>
              <a:t>[이름]  </a:t>
            </a:r>
            <a:r>
              <a:rPr sz="1500" b="0" i="0">
                <a:solidFill>
                  <a:srgbClr val="F2A900"/>
                </a:solidFill>
                <a:latin typeface="Apple SD Gothic Neo"/>
                <a:ea typeface="Apple SD Gothic Neo"/>
                <a:cs typeface="Apple SD Gothic Neo"/>
              </a:rPr>
              <a:t>AV 학습 · 평가</a:t>
            </a:r>
          </a:p>
          <a:p>
            <a:pPr algn="l"/>
            <a:r>
              <a:rPr sz="1300" b="0" i="0">
                <a:solidFill>
                  <a:srgbClr val="B8C1CB"/>
                </a:solidFill>
                <a:latin typeface="Apple SD Gothic Neo"/>
                <a:ea typeface="Apple SD Gothic Neo"/>
                <a:cs typeface="Apple SD Gothic Neo"/>
              </a:rPr>
              <a:t>관측·보상 설계, 학습, 프로젝트 페이지</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84048"/>
            <a:ext cx="11064240" cy="685800"/>
          </a:xfrm>
          <a:prstGeom prst="rect">
            <a:avLst/>
          </a:prstGeom>
          <a:noFill/>
        </p:spPr>
        <p:txBody>
          <a:bodyPr wrap="square" anchor="t" lIns="0" rIns="0" tIns="0" bIns="0">
            <a:spAutoFit/>
          </a:bodyPr>
          <a:lstStyle/>
          <a:p>
            <a:pPr algn="l"/>
            <a:r>
              <a:rPr sz="3200" b="1" i="0">
                <a:solidFill>
                  <a:srgbClr val="1F2328"/>
                </a:solidFill>
                <a:latin typeface="Apple SD Gothic Neo"/>
                <a:ea typeface="Apple SD Gothic Neo"/>
                <a:cs typeface="Apple SD Gothic Neo"/>
              </a:rPr>
              <a:t>왜 이 길인가</a:t>
            </a:r>
          </a:p>
        </p:txBody>
      </p:sp>
      <p:sp>
        <p:nvSpPr>
          <p:cNvPr id="3" name="subtitle"/>
          <p:cNvSpPr txBox="1"/>
          <p:nvPr/>
        </p:nvSpPr>
        <p:spPr>
          <a:xfrm>
            <a:off x="548640" y="1024128"/>
            <a:ext cx="11064240" cy="365760"/>
          </a:xfrm>
          <a:prstGeom prst="rect">
            <a:avLst/>
          </a:prstGeom>
          <a:noFill/>
        </p:spPr>
        <p:txBody>
          <a:bodyPr wrap="square" anchor="t" lIns="0" rIns="0" tIns="0" bIns="0">
            <a:spAutoFit/>
          </a:bodyPr>
          <a:lstStyle/>
          <a:p>
            <a:pPr algn="l"/>
            <a:r>
              <a:rPr sz="1500" b="0" i="0">
                <a:solidFill>
                  <a:srgbClr val="5B636E"/>
                </a:solidFill>
                <a:latin typeface="Apple SD Gothic Neo"/>
                <a:ea typeface="Apple SD Gothic Neo"/>
                <a:cs typeface="Apple SD Gothic Neo"/>
              </a:rPr>
              <a:t>수업에서 실제로 가는 길에, 수도권 도로 유형이 한 줄로 이어져 있다</a:t>
            </a:r>
          </a:p>
        </p:txBody>
      </p:sp>
      <p:pic>
        <p:nvPicPr>
          <p:cNvPr id="4" name="Picture 3" descr="map_overview.png"/>
          <p:cNvPicPr>
            <a:picLocks noChangeAspect="1"/>
          </p:cNvPicPr>
          <p:nvPr/>
        </p:nvPicPr>
        <p:blipFill>
          <a:blip r:embed="rId2"/>
          <a:stretch>
            <a:fillRect/>
          </a:stretch>
        </p:blipFill>
        <p:spPr>
          <a:xfrm>
            <a:off x="8275320" y="320040"/>
            <a:ext cx="3563200" cy="6263640"/>
          </a:xfrm>
          <a:prstGeom prst="rect">
            <a:avLst/>
          </a:prstGeom>
        </p:spPr>
      </p:pic>
      <p:sp>
        <p:nvSpPr>
          <p:cNvPr id="5" name="badge_1"/>
          <p:cNvSpPr/>
          <p:nvPr/>
        </p:nvSpPr>
        <p:spPr>
          <a:xfrm>
            <a:off x="548640" y="1709928"/>
            <a:ext cx="402336" cy="402336"/>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Apple SD Gothic Neo"/>
                <a:ea typeface="Apple SD Gothic Neo"/>
                <a:cs typeface="Apple SD Gothic Neo"/>
              </a:rPr>
              <a:t>1</a:t>
            </a:r>
          </a:p>
        </p:txBody>
      </p:sp>
      <p:sp>
        <p:nvSpPr>
          <p:cNvPr id="6" name="TextBox 5"/>
          <p:cNvSpPr txBox="1"/>
          <p:nvPr/>
        </p:nvSpPr>
        <p:spPr>
          <a:xfrm>
            <a:off x="1143000" y="1655064"/>
            <a:ext cx="6675120" cy="914400"/>
          </a:xfrm>
          <a:prstGeom prst="rect">
            <a:avLst/>
          </a:prstGeom>
          <a:noFill/>
        </p:spPr>
        <p:txBody>
          <a:bodyPr wrap="square" anchor="t" lIns="0" rIns="0" tIns="0" bIns="0">
            <a:spAutoFit/>
          </a:bodyPr>
          <a:lstStyle/>
          <a:p>
            <a:pPr algn="l"/>
            <a:r>
              <a:rPr sz="1800" b="1" i="0">
                <a:solidFill>
                  <a:srgbClr val="1F2328"/>
                </a:solidFill>
                <a:latin typeface="Apple SD Gothic Neo"/>
                <a:ea typeface="Apple SD Gothic Neo"/>
                <a:cs typeface="Apple SD Gothic Neo"/>
              </a:rPr>
              <a:t>실제로 가는 길</a:t>
            </a:r>
          </a:p>
          <a:p>
            <a:pPr algn="l"/>
            <a:r>
              <a:rPr sz="1400" b="0" i="0">
                <a:solidFill>
                  <a:srgbClr val="5B636E"/>
                </a:solidFill>
                <a:latin typeface="Apple SD Gothic Neo"/>
                <a:ea typeface="Apple SD Gothic Neo"/>
                <a:cs typeface="Apple SD Gothic Neo"/>
              </a:rPr>
              <a:t>킨텍스 로봇박람회 견학 경로. 발표 영상과 견학 보고서가 하나의 이야기로 이어진다</a:t>
            </a:r>
          </a:p>
        </p:txBody>
      </p:sp>
      <p:sp>
        <p:nvSpPr>
          <p:cNvPr id="7" name="badge_2"/>
          <p:cNvSpPr/>
          <p:nvPr/>
        </p:nvSpPr>
        <p:spPr>
          <a:xfrm>
            <a:off x="548640" y="2734056"/>
            <a:ext cx="402336" cy="402336"/>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Apple SD Gothic Neo"/>
                <a:ea typeface="Apple SD Gothic Neo"/>
                <a:cs typeface="Apple SD Gothic Neo"/>
              </a:rPr>
              <a:t>2</a:t>
            </a:r>
          </a:p>
        </p:txBody>
      </p:sp>
      <p:sp>
        <p:nvSpPr>
          <p:cNvPr id="8" name="TextBox 7"/>
          <p:cNvSpPr txBox="1"/>
          <p:nvPr/>
        </p:nvSpPr>
        <p:spPr>
          <a:xfrm>
            <a:off x="1143000" y="2679192"/>
            <a:ext cx="6675120" cy="914400"/>
          </a:xfrm>
          <a:prstGeom prst="rect">
            <a:avLst/>
          </a:prstGeom>
          <a:noFill/>
        </p:spPr>
        <p:txBody>
          <a:bodyPr wrap="square" anchor="t" lIns="0" rIns="0" tIns="0" bIns="0">
            <a:spAutoFit/>
          </a:bodyPr>
          <a:lstStyle/>
          <a:p>
            <a:pPr algn="l"/>
            <a:r>
              <a:rPr sz="1800" b="1" i="0">
                <a:solidFill>
                  <a:srgbClr val="1F2328"/>
                </a:solidFill>
                <a:latin typeface="Apple SD Gothic Neo"/>
                <a:ea typeface="Apple SD Gothic Neo"/>
                <a:cs typeface="Apple SD Gothic Neo"/>
              </a:rPr>
              <a:t>도로 유형이 다양함</a:t>
            </a:r>
          </a:p>
          <a:p>
            <a:pPr algn="l"/>
            <a:r>
              <a:rPr sz="1400" b="0" i="0">
                <a:solidFill>
                  <a:srgbClr val="5B636E"/>
                </a:solidFill>
                <a:latin typeface="Apple SD Gothic Neo"/>
                <a:ea typeface="Apple SD Gothic Neo"/>
                <a:cs typeface="Apple SD Gothic Neo"/>
              </a:rPr>
              <a:t>캠퍼스 앞 도심 교차로 → 고속도로 → 지하 고속화도로 → 한강 횡단 → 자유로</a:t>
            </a:r>
          </a:p>
        </p:txBody>
      </p:sp>
      <p:sp>
        <p:nvSpPr>
          <p:cNvPr id="9" name="badge_3"/>
          <p:cNvSpPr/>
          <p:nvPr/>
        </p:nvSpPr>
        <p:spPr>
          <a:xfrm>
            <a:off x="548640" y="3758183"/>
            <a:ext cx="402336" cy="402336"/>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Apple SD Gothic Neo"/>
                <a:ea typeface="Apple SD Gothic Neo"/>
                <a:cs typeface="Apple SD Gothic Neo"/>
              </a:rPr>
              <a:t>3</a:t>
            </a:r>
          </a:p>
        </p:txBody>
      </p:sp>
      <p:sp>
        <p:nvSpPr>
          <p:cNvPr id="10" name="TextBox 9"/>
          <p:cNvSpPr txBox="1"/>
          <p:nvPr/>
        </p:nvSpPr>
        <p:spPr>
          <a:xfrm>
            <a:off x="1143000" y="3703320"/>
            <a:ext cx="6675120" cy="914400"/>
          </a:xfrm>
          <a:prstGeom prst="rect">
            <a:avLst/>
          </a:prstGeom>
          <a:noFill/>
        </p:spPr>
        <p:txBody>
          <a:bodyPr wrap="square" anchor="t" lIns="0" rIns="0" tIns="0" bIns="0">
            <a:spAutoFit/>
          </a:bodyPr>
          <a:lstStyle/>
          <a:p>
            <a:pPr algn="l"/>
            <a:r>
              <a:rPr sz="1800" b="1" i="0">
                <a:solidFill>
                  <a:srgbClr val="1F2328"/>
                </a:solidFill>
                <a:latin typeface="Apple SD Gothic Neo"/>
                <a:ea typeface="Apple SD Gothic Neo"/>
                <a:cs typeface="Apple SD Gothic Neo"/>
              </a:rPr>
              <a:t>결정 없이는 도착 못 함</a:t>
            </a:r>
          </a:p>
          <a:p>
            <a:pPr algn="l"/>
            <a:r>
              <a:rPr sz="1400" b="0" i="0">
                <a:solidFill>
                  <a:srgbClr val="5B636E"/>
                </a:solidFill>
                <a:latin typeface="Apple SD Gothic Neo"/>
                <a:ea typeface="Apple SD Gothic Neo"/>
                <a:cs typeface="Apple SD Gothic Neo"/>
              </a:rPr>
              <a:t>출구를 놓치면 다른 도시로 빠진다. 합류·분기 지점마다 차선 판단이 필요하다</a:t>
            </a:r>
          </a:p>
        </p:txBody>
      </p:sp>
      <p:sp>
        <p:nvSpPr>
          <p:cNvPr id="11" name="stat_0"/>
          <p:cNvSpPr/>
          <p:nvPr/>
        </p:nvSpPr>
        <p:spPr>
          <a:xfrm>
            <a:off x="548640" y="4892040"/>
            <a:ext cx="2286000" cy="132588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4956048"/>
            <a:ext cx="1920240" cy="777240"/>
          </a:xfrm>
          <a:prstGeom prst="rect">
            <a:avLst/>
          </a:prstGeom>
          <a:noFill/>
        </p:spPr>
        <p:txBody>
          <a:bodyPr wrap="square" anchor="t" lIns="0" rIns="0" tIns="0" bIns="0">
            <a:spAutoFit/>
          </a:bodyPr>
          <a:lstStyle/>
          <a:p>
            <a:pPr algn="l"/>
            <a:r>
              <a:rPr sz="3600" b="1" i="0">
                <a:solidFill>
                  <a:srgbClr val="0B6E4F"/>
                </a:solidFill>
                <a:latin typeface="Apple SD Gothic Neo"/>
                <a:ea typeface="Apple SD Gothic Neo"/>
                <a:cs typeface="Apple SD Gothic Neo"/>
              </a:rPr>
              <a:t>59.4</a:t>
            </a:r>
            <a:r>
              <a:rPr sz="1600" b="1" i="0">
                <a:solidFill>
                  <a:srgbClr val="0B6E4F"/>
                </a:solidFill>
                <a:latin typeface="Apple SD Gothic Neo"/>
                <a:ea typeface="Apple SD Gothic Neo"/>
                <a:cs typeface="Apple SD Gothic Neo"/>
              </a:rPr>
              <a:t> km</a:t>
            </a:r>
          </a:p>
        </p:txBody>
      </p:sp>
      <p:sp>
        <p:nvSpPr>
          <p:cNvPr id="13" name="TextBox 12"/>
          <p:cNvSpPr txBox="1"/>
          <p:nvPr/>
        </p:nvSpPr>
        <p:spPr>
          <a:xfrm>
            <a:off x="777240" y="5669280"/>
            <a:ext cx="1920240" cy="411480"/>
          </a:xfrm>
          <a:prstGeom prst="rect">
            <a:avLst/>
          </a:prstGeom>
          <a:noFill/>
        </p:spPr>
        <p:txBody>
          <a:bodyPr wrap="square" anchor="t" lIns="0" rIns="0" tIns="0" bIns="0">
            <a:spAutoFit/>
          </a:bodyPr>
          <a:lstStyle/>
          <a:p>
            <a:pPr algn="l"/>
            <a:r>
              <a:rPr sz="1300" b="0" i="0">
                <a:solidFill>
                  <a:srgbClr val="5B636E"/>
                </a:solidFill>
                <a:latin typeface="Apple SD Gothic Neo"/>
                <a:ea typeface="Apple SD Gothic Neo"/>
                <a:cs typeface="Apple SD Gothic Neo"/>
              </a:rPr>
              <a:t>전체 경로</a:t>
            </a:r>
          </a:p>
        </p:txBody>
      </p:sp>
      <p:sp>
        <p:nvSpPr>
          <p:cNvPr id="14" name="stat_1"/>
          <p:cNvSpPr/>
          <p:nvPr/>
        </p:nvSpPr>
        <p:spPr>
          <a:xfrm>
            <a:off x="3063240" y="4892040"/>
            <a:ext cx="2286000" cy="132588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91840" y="4956048"/>
            <a:ext cx="1920240" cy="777240"/>
          </a:xfrm>
          <a:prstGeom prst="rect">
            <a:avLst/>
          </a:prstGeom>
          <a:noFill/>
        </p:spPr>
        <p:txBody>
          <a:bodyPr wrap="square" anchor="t" lIns="0" rIns="0" tIns="0" bIns="0">
            <a:spAutoFit/>
          </a:bodyPr>
          <a:lstStyle/>
          <a:p>
            <a:pPr algn="l"/>
            <a:r>
              <a:rPr sz="3600" b="1" i="0">
                <a:solidFill>
                  <a:srgbClr val="0B6E4F"/>
                </a:solidFill>
                <a:latin typeface="Apple SD Gothic Neo"/>
                <a:ea typeface="Apple SD Gothic Neo"/>
                <a:cs typeface="Apple SD Gothic Neo"/>
              </a:rPr>
              <a:t>23</a:t>
            </a:r>
            <a:r>
              <a:rPr sz="1600" b="1" i="0">
                <a:solidFill>
                  <a:srgbClr val="0B6E4F"/>
                </a:solidFill>
                <a:latin typeface="Apple SD Gothic Neo"/>
                <a:ea typeface="Apple SD Gothic Neo"/>
                <a:cs typeface="Apple SD Gothic Neo"/>
              </a:rPr>
              <a:t> 곳</a:t>
            </a:r>
          </a:p>
        </p:txBody>
      </p:sp>
      <p:sp>
        <p:nvSpPr>
          <p:cNvPr id="16" name="TextBox 15"/>
          <p:cNvSpPr txBox="1"/>
          <p:nvPr/>
        </p:nvSpPr>
        <p:spPr>
          <a:xfrm>
            <a:off x="3291840" y="5669280"/>
            <a:ext cx="1920240" cy="411480"/>
          </a:xfrm>
          <a:prstGeom prst="rect">
            <a:avLst/>
          </a:prstGeom>
          <a:noFill/>
        </p:spPr>
        <p:txBody>
          <a:bodyPr wrap="square" anchor="t" lIns="0" rIns="0" tIns="0" bIns="0">
            <a:spAutoFit/>
          </a:bodyPr>
          <a:lstStyle/>
          <a:p>
            <a:pPr algn="l"/>
            <a:r>
              <a:rPr sz="1300" b="0" i="0">
                <a:solidFill>
                  <a:srgbClr val="5B636E"/>
                </a:solidFill>
                <a:latin typeface="Apple SD Gothic Neo"/>
                <a:ea typeface="Apple SD Gothic Neo"/>
                <a:cs typeface="Apple SD Gothic Neo"/>
              </a:rPr>
              <a:t>합류·분기·회전</a:t>
            </a:r>
          </a:p>
        </p:txBody>
      </p:sp>
      <p:sp>
        <p:nvSpPr>
          <p:cNvPr id="17" name="stat_2"/>
          <p:cNvSpPr/>
          <p:nvPr/>
        </p:nvSpPr>
        <p:spPr>
          <a:xfrm>
            <a:off x="5577840" y="4892040"/>
            <a:ext cx="2286000" cy="132588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06440" y="4956048"/>
            <a:ext cx="1920240" cy="777240"/>
          </a:xfrm>
          <a:prstGeom prst="rect">
            <a:avLst/>
          </a:prstGeom>
          <a:noFill/>
        </p:spPr>
        <p:txBody>
          <a:bodyPr wrap="square" anchor="t" lIns="0" rIns="0" tIns="0" bIns="0">
            <a:spAutoFit/>
          </a:bodyPr>
          <a:lstStyle/>
          <a:p>
            <a:pPr algn="l"/>
            <a:r>
              <a:rPr sz="3600" b="1" i="0">
                <a:solidFill>
                  <a:srgbClr val="0B6E4F"/>
                </a:solidFill>
                <a:latin typeface="Apple SD Gothic Neo"/>
                <a:ea typeface="Apple SD Gothic Neo"/>
                <a:cs typeface="Apple SD Gothic Neo"/>
              </a:rPr>
              <a:t>4</a:t>
            </a:r>
            <a:r>
              <a:rPr sz="1600" b="1" i="0">
                <a:solidFill>
                  <a:srgbClr val="0B6E4F"/>
                </a:solidFill>
                <a:latin typeface="Apple SD Gothic Neo"/>
                <a:ea typeface="Apple SD Gothic Neo"/>
                <a:cs typeface="Apple SD Gothic Neo"/>
              </a:rPr>
              <a:t> 개</a:t>
            </a:r>
          </a:p>
        </p:txBody>
      </p:sp>
      <p:sp>
        <p:nvSpPr>
          <p:cNvPr id="19" name="TextBox 18"/>
          <p:cNvSpPr txBox="1"/>
          <p:nvPr/>
        </p:nvSpPr>
        <p:spPr>
          <a:xfrm>
            <a:off x="5806440" y="5669280"/>
            <a:ext cx="1920240" cy="411480"/>
          </a:xfrm>
          <a:prstGeom prst="rect">
            <a:avLst/>
          </a:prstGeom>
          <a:noFill/>
        </p:spPr>
        <p:txBody>
          <a:bodyPr wrap="square" anchor="t" lIns="0" rIns="0" tIns="0" bIns="0">
            <a:spAutoFit/>
          </a:bodyPr>
          <a:lstStyle/>
          <a:p>
            <a:pPr algn="l"/>
            <a:r>
              <a:rPr sz="1300" b="0" i="0">
                <a:solidFill>
                  <a:srgbClr val="5B636E"/>
                </a:solidFill>
                <a:latin typeface="Apple SD Gothic Neo"/>
                <a:ea typeface="Apple SD Gothic Neo"/>
                <a:cs typeface="Apple SD Gothic Neo"/>
              </a:rPr>
              <a:t>학습·평가 구간</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84048"/>
            <a:ext cx="11064240" cy="685800"/>
          </a:xfrm>
          <a:prstGeom prst="rect">
            <a:avLst/>
          </a:prstGeom>
          <a:noFill/>
        </p:spPr>
        <p:txBody>
          <a:bodyPr wrap="square" anchor="t" lIns="0" rIns="0" tIns="0" bIns="0">
            <a:spAutoFit/>
          </a:bodyPr>
          <a:lstStyle/>
          <a:p>
            <a:pPr algn="l"/>
            <a:r>
              <a:rPr sz="3200" b="1" i="0">
                <a:solidFill>
                  <a:srgbClr val="1F2328"/>
                </a:solidFill>
                <a:latin typeface="Apple SD Gothic Neo"/>
                <a:ea typeface="Apple SD Gothic Neo"/>
                <a:cs typeface="Apple SD Gothic Neo"/>
              </a:rPr>
              <a:t>4개 구간으로 나눠 구현한다</a:t>
            </a:r>
          </a:p>
        </p:txBody>
      </p:sp>
      <p:sp>
        <p:nvSpPr>
          <p:cNvPr id="3" name="subtitle"/>
          <p:cNvSpPr txBox="1"/>
          <p:nvPr/>
        </p:nvSpPr>
        <p:spPr>
          <a:xfrm>
            <a:off x="548640" y="1024128"/>
            <a:ext cx="11064240" cy="365760"/>
          </a:xfrm>
          <a:prstGeom prst="rect">
            <a:avLst/>
          </a:prstGeom>
          <a:noFill/>
        </p:spPr>
        <p:txBody>
          <a:bodyPr wrap="square" anchor="t" lIns="0" rIns="0" tIns="0" bIns="0">
            <a:spAutoFit/>
          </a:bodyPr>
          <a:lstStyle/>
          <a:p>
            <a:pPr algn="l"/>
            <a:r>
              <a:rPr sz="1500" b="0" i="0">
                <a:solidFill>
                  <a:srgbClr val="5B636E"/>
                </a:solidFill>
                <a:latin typeface="Apple SD Gothic Neo"/>
                <a:ea typeface="Apple SD Gothic Neo"/>
                <a:cs typeface="Apple SD Gothic Neo"/>
              </a:rPr>
              <a:t>59.4 km 전체는 시연 영상으로, 학습·평가는 성격이 다른 대표 구간 4곳에서</a:t>
            </a:r>
          </a:p>
        </p:txBody>
      </p:sp>
      <p:sp>
        <p:nvSpPr>
          <p:cNvPr id="4" name="seg_card_1"/>
          <p:cNvSpPr/>
          <p:nvPr/>
        </p:nvSpPr>
        <p:spPr>
          <a:xfrm>
            <a:off x="548640" y="1508760"/>
            <a:ext cx="2651760" cy="3840480"/>
          </a:xfrm>
          <a:prstGeom prst="roundRect">
            <a:avLst>
              <a:gd name="adj" fmla="val 4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ap_seg1.png"/>
          <p:cNvPicPr>
            <a:picLocks noChangeAspect="1"/>
          </p:cNvPicPr>
          <p:nvPr/>
        </p:nvPicPr>
        <p:blipFill>
          <a:blip r:embed="rId2"/>
          <a:stretch>
            <a:fillRect/>
          </a:stretch>
        </p:blipFill>
        <p:spPr>
          <a:xfrm>
            <a:off x="640080" y="1600200"/>
            <a:ext cx="2468879" cy="1851659"/>
          </a:xfrm>
          <a:prstGeom prst="rect">
            <a:avLst/>
          </a:prstGeom>
        </p:spPr>
      </p:pic>
      <p:sp>
        <p:nvSpPr>
          <p:cNvPr id="6" name="badge_1"/>
          <p:cNvSpPr/>
          <p:nvPr/>
        </p:nvSpPr>
        <p:spPr>
          <a:xfrm>
            <a:off x="713232" y="169164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1F2328"/>
                </a:solidFill>
                <a:latin typeface="Apple SD Gothic Neo"/>
                <a:ea typeface="Apple SD Gothic Neo"/>
                <a:cs typeface="Apple SD Gothic Neo"/>
              </a:rPr>
              <a:t>1</a:t>
            </a:r>
          </a:p>
        </p:txBody>
      </p:sp>
      <p:sp>
        <p:nvSpPr>
          <p:cNvPr id="7" name="TextBox 6"/>
          <p:cNvSpPr txBox="1"/>
          <p:nvPr/>
        </p:nvSpPr>
        <p:spPr>
          <a:xfrm>
            <a:off x="685800" y="3543300"/>
            <a:ext cx="2377440" cy="411480"/>
          </a:xfrm>
          <a:prstGeom prst="rect">
            <a:avLst/>
          </a:prstGeom>
          <a:noFill/>
        </p:spPr>
        <p:txBody>
          <a:bodyPr wrap="square" anchor="t" lIns="0" rIns="0" tIns="0" bIns="0">
            <a:spAutoFit/>
          </a:bodyPr>
          <a:lstStyle/>
          <a:p>
            <a:pPr algn="l"/>
            <a:r>
              <a:rPr sz="1700" b="1" i="0">
                <a:solidFill>
                  <a:srgbClr val="1F2328"/>
                </a:solidFill>
                <a:latin typeface="Apple SD Gothic Neo"/>
                <a:ea typeface="Apple SD Gothic Neo"/>
                <a:cs typeface="Apple SD Gothic Neo"/>
              </a:rPr>
              <a:t>출발</a:t>
            </a:r>
            <a:r>
              <a:rPr sz="1400" b="0" i="0">
                <a:solidFill>
                  <a:srgbClr val="5B636E"/>
                </a:solidFill>
                <a:latin typeface="Apple SD Gothic Neo"/>
                <a:ea typeface="Apple SD Gothic Neo"/>
                <a:cs typeface="Apple SD Gothic Neo"/>
              </a:rPr>
              <a:t>  6.2 km</a:t>
            </a:r>
          </a:p>
        </p:txBody>
      </p:sp>
      <p:sp>
        <p:nvSpPr>
          <p:cNvPr id="8" name="TextBox 7"/>
          <p:cNvSpPr txBox="1"/>
          <p:nvPr/>
        </p:nvSpPr>
        <p:spPr>
          <a:xfrm>
            <a:off x="685800" y="3927348"/>
            <a:ext cx="2377440" cy="548640"/>
          </a:xfrm>
          <a:prstGeom prst="rect">
            <a:avLst/>
          </a:prstGeom>
          <a:noFill/>
        </p:spPr>
        <p:txBody>
          <a:bodyPr wrap="square" anchor="t" lIns="0" rIns="0" tIns="0" bIns="0">
            <a:spAutoFit/>
          </a:bodyPr>
          <a:lstStyle/>
          <a:p>
            <a:pPr algn="l"/>
            <a:r>
              <a:rPr sz="1200" b="0" i="0">
                <a:solidFill>
                  <a:srgbClr val="5B636E"/>
                </a:solidFill>
                <a:latin typeface="Apple SD Gothic Neo"/>
                <a:ea typeface="Apple SD Gothic Neo"/>
                <a:cs typeface="Apple SD Gothic Neo"/>
              </a:rPr>
              <a:t>캠퍼스 → 수인로 → 수원문산고속도로</a:t>
            </a:r>
          </a:p>
        </p:txBody>
      </p:sp>
      <p:sp>
        <p:nvSpPr>
          <p:cNvPr id="9" name="TextBox 8"/>
          <p:cNvSpPr txBox="1"/>
          <p:nvPr/>
        </p:nvSpPr>
        <p:spPr>
          <a:xfrm>
            <a:off x="685800" y="4475988"/>
            <a:ext cx="2377440" cy="640080"/>
          </a:xfrm>
          <a:prstGeom prst="rect">
            <a:avLst/>
          </a:prstGeom>
          <a:noFill/>
        </p:spPr>
        <p:txBody>
          <a:bodyPr wrap="square" anchor="t" lIns="0" rIns="0" tIns="0" bIns="0">
            <a:spAutoFit/>
          </a:bodyPr>
          <a:lstStyle/>
          <a:p>
            <a:pPr algn="l"/>
            <a:r>
              <a:rPr sz="1300" b="1" i="0">
                <a:solidFill>
                  <a:srgbClr val="0B6E4F"/>
                </a:solidFill>
                <a:latin typeface="Apple SD Gothic Neo"/>
                <a:ea typeface="Apple SD Gothic Neo"/>
                <a:cs typeface="Apple SD Gothic Neo"/>
              </a:rPr>
              <a:t>· 신호 교차로</a:t>
            </a:r>
          </a:p>
          <a:p>
            <a:pPr algn="l"/>
            <a:r>
              <a:rPr sz="1300" b="1" i="0">
                <a:solidFill>
                  <a:srgbClr val="0B6E4F"/>
                </a:solidFill>
                <a:latin typeface="Apple SD Gothic Neo"/>
                <a:ea typeface="Apple SD Gothic Neo"/>
                <a:cs typeface="Apple SD Gothic Neo"/>
              </a:rPr>
              <a:t>· 진입 램프 합류</a:t>
            </a:r>
          </a:p>
        </p:txBody>
      </p:sp>
      <p:sp>
        <p:nvSpPr>
          <p:cNvPr id="10" name="seg_card_2"/>
          <p:cNvSpPr/>
          <p:nvPr/>
        </p:nvSpPr>
        <p:spPr>
          <a:xfrm>
            <a:off x="3383280" y="1508760"/>
            <a:ext cx="2651760" cy="3840480"/>
          </a:xfrm>
          <a:prstGeom prst="roundRect">
            <a:avLst>
              <a:gd name="adj" fmla="val 4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map_seg2.png"/>
          <p:cNvPicPr>
            <a:picLocks noChangeAspect="1"/>
          </p:cNvPicPr>
          <p:nvPr/>
        </p:nvPicPr>
        <p:blipFill>
          <a:blip r:embed="rId3"/>
          <a:stretch>
            <a:fillRect/>
          </a:stretch>
        </p:blipFill>
        <p:spPr>
          <a:xfrm>
            <a:off x="3474720" y="1600200"/>
            <a:ext cx="2468879" cy="1851659"/>
          </a:xfrm>
          <a:prstGeom prst="rect">
            <a:avLst/>
          </a:prstGeom>
        </p:spPr>
      </p:pic>
      <p:sp>
        <p:nvSpPr>
          <p:cNvPr id="12" name="badge_2"/>
          <p:cNvSpPr/>
          <p:nvPr/>
        </p:nvSpPr>
        <p:spPr>
          <a:xfrm>
            <a:off x="3547872" y="169164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1F2328"/>
                </a:solidFill>
                <a:latin typeface="Apple SD Gothic Neo"/>
                <a:ea typeface="Apple SD Gothic Neo"/>
                <a:cs typeface="Apple SD Gothic Neo"/>
              </a:rPr>
              <a:t>2</a:t>
            </a:r>
          </a:p>
        </p:txBody>
      </p:sp>
      <p:sp>
        <p:nvSpPr>
          <p:cNvPr id="13" name="TextBox 12"/>
          <p:cNvSpPr txBox="1"/>
          <p:nvPr/>
        </p:nvSpPr>
        <p:spPr>
          <a:xfrm>
            <a:off x="3520440" y="3543300"/>
            <a:ext cx="2377440" cy="411480"/>
          </a:xfrm>
          <a:prstGeom prst="rect">
            <a:avLst/>
          </a:prstGeom>
          <a:noFill/>
        </p:spPr>
        <p:txBody>
          <a:bodyPr wrap="square" anchor="t" lIns="0" rIns="0" tIns="0" bIns="0">
            <a:spAutoFit/>
          </a:bodyPr>
          <a:lstStyle/>
          <a:p>
            <a:pPr algn="l"/>
            <a:r>
              <a:rPr sz="1700" b="1" i="0">
                <a:solidFill>
                  <a:srgbClr val="1F2328"/>
                </a:solidFill>
                <a:latin typeface="Apple SD Gothic Neo"/>
                <a:ea typeface="Apple SD Gothic Neo"/>
                <a:cs typeface="Apple SD Gothic Neo"/>
              </a:rPr>
              <a:t>분기</a:t>
            </a:r>
            <a:r>
              <a:rPr sz="1400" b="0" i="0">
                <a:solidFill>
                  <a:srgbClr val="5B636E"/>
                </a:solidFill>
                <a:latin typeface="Apple SD Gothic Neo"/>
                <a:ea typeface="Apple SD Gothic Neo"/>
                <a:cs typeface="Apple SD Gothic Neo"/>
              </a:rPr>
              <a:t>  4.8 km</a:t>
            </a:r>
          </a:p>
        </p:txBody>
      </p:sp>
      <p:sp>
        <p:nvSpPr>
          <p:cNvPr id="14" name="TextBox 13"/>
          <p:cNvSpPr txBox="1"/>
          <p:nvPr/>
        </p:nvSpPr>
        <p:spPr>
          <a:xfrm>
            <a:off x="3520440" y="3927348"/>
            <a:ext cx="2377440" cy="548640"/>
          </a:xfrm>
          <a:prstGeom prst="rect">
            <a:avLst/>
          </a:prstGeom>
          <a:noFill/>
        </p:spPr>
        <p:txBody>
          <a:bodyPr wrap="square" anchor="t" lIns="0" rIns="0" tIns="0" bIns="0">
            <a:spAutoFit/>
          </a:bodyPr>
          <a:lstStyle/>
          <a:p>
            <a:pPr algn="l"/>
            <a:r>
              <a:rPr sz="1200" b="0" i="0">
                <a:solidFill>
                  <a:srgbClr val="5B636E"/>
                </a:solidFill>
                <a:latin typeface="Apple SD Gothic Neo"/>
                <a:ea typeface="Apple SD Gothic Neo"/>
                <a:cs typeface="Apple SD Gothic Neo"/>
              </a:rPr>
              <a:t>수원문산고속도로 → 서부간선도로</a:t>
            </a:r>
          </a:p>
        </p:txBody>
      </p:sp>
      <p:sp>
        <p:nvSpPr>
          <p:cNvPr id="15" name="TextBox 14"/>
          <p:cNvSpPr txBox="1"/>
          <p:nvPr/>
        </p:nvSpPr>
        <p:spPr>
          <a:xfrm>
            <a:off x="3520440" y="4475988"/>
            <a:ext cx="2377440" cy="640080"/>
          </a:xfrm>
          <a:prstGeom prst="rect">
            <a:avLst/>
          </a:prstGeom>
          <a:noFill/>
        </p:spPr>
        <p:txBody>
          <a:bodyPr wrap="square" anchor="t" lIns="0" rIns="0" tIns="0" bIns="0">
            <a:spAutoFit/>
          </a:bodyPr>
          <a:lstStyle/>
          <a:p>
            <a:pPr algn="l"/>
            <a:r>
              <a:rPr sz="1300" b="1" i="0">
                <a:solidFill>
                  <a:srgbClr val="0B6E4F"/>
                </a:solidFill>
                <a:latin typeface="Apple SD Gothic Neo"/>
                <a:ea typeface="Apple SD Gothic Neo"/>
                <a:cs typeface="Apple SD Gothic Neo"/>
              </a:rPr>
              <a:t>· 고속도로 간 연결</a:t>
            </a:r>
          </a:p>
          <a:p>
            <a:pPr algn="l"/>
            <a:r>
              <a:rPr sz="1300" b="1" i="0">
                <a:solidFill>
                  <a:srgbClr val="0B6E4F"/>
                </a:solidFill>
                <a:latin typeface="Apple SD Gothic Neo"/>
                <a:ea typeface="Apple SD Gothic Neo"/>
                <a:cs typeface="Apple SD Gothic Neo"/>
              </a:rPr>
              <a:t>· 지상·지하도로 갈림길</a:t>
            </a:r>
          </a:p>
        </p:txBody>
      </p:sp>
      <p:sp>
        <p:nvSpPr>
          <p:cNvPr id="16" name="seg_card_3"/>
          <p:cNvSpPr/>
          <p:nvPr/>
        </p:nvSpPr>
        <p:spPr>
          <a:xfrm>
            <a:off x="6217920" y="1508760"/>
            <a:ext cx="2651760" cy="3840480"/>
          </a:xfrm>
          <a:prstGeom prst="roundRect">
            <a:avLst>
              <a:gd name="adj" fmla="val 4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map_seg3.png"/>
          <p:cNvPicPr>
            <a:picLocks noChangeAspect="1"/>
          </p:cNvPicPr>
          <p:nvPr/>
        </p:nvPicPr>
        <p:blipFill>
          <a:blip r:embed="rId4"/>
          <a:stretch>
            <a:fillRect/>
          </a:stretch>
        </p:blipFill>
        <p:spPr>
          <a:xfrm>
            <a:off x="6309359" y="1600200"/>
            <a:ext cx="2468879" cy="1851659"/>
          </a:xfrm>
          <a:prstGeom prst="rect">
            <a:avLst/>
          </a:prstGeom>
        </p:spPr>
      </p:pic>
      <p:sp>
        <p:nvSpPr>
          <p:cNvPr id="18" name="badge_3"/>
          <p:cNvSpPr/>
          <p:nvPr/>
        </p:nvSpPr>
        <p:spPr>
          <a:xfrm>
            <a:off x="6382512" y="169164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1F2328"/>
                </a:solidFill>
                <a:latin typeface="Apple SD Gothic Neo"/>
                <a:ea typeface="Apple SD Gothic Neo"/>
                <a:cs typeface="Apple SD Gothic Neo"/>
              </a:rPr>
              <a:t>3</a:t>
            </a:r>
          </a:p>
        </p:txBody>
      </p:sp>
      <p:sp>
        <p:nvSpPr>
          <p:cNvPr id="19" name="TextBox 18"/>
          <p:cNvSpPr txBox="1"/>
          <p:nvPr/>
        </p:nvSpPr>
        <p:spPr>
          <a:xfrm>
            <a:off x="6355080" y="3543300"/>
            <a:ext cx="2377440" cy="411480"/>
          </a:xfrm>
          <a:prstGeom prst="rect">
            <a:avLst/>
          </a:prstGeom>
          <a:noFill/>
        </p:spPr>
        <p:txBody>
          <a:bodyPr wrap="square" anchor="t" lIns="0" rIns="0" tIns="0" bIns="0">
            <a:spAutoFit/>
          </a:bodyPr>
          <a:lstStyle/>
          <a:p>
            <a:pPr algn="l"/>
            <a:r>
              <a:rPr sz="1700" b="1" i="0">
                <a:solidFill>
                  <a:srgbClr val="1F2328"/>
                </a:solidFill>
                <a:latin typeface="Apple SD Gothic Neo"/>
                <a:ea typeface="Apple SD Gothic Neo"/>
                <a:cs typeface="Apple SD Gothic Neo"/>
              </a:rPr>
              <a:t>한강</a:t>
            </a:r>
            <a:r>
              <a:rPr sz="1400" b="0" i="0">
                <a:solidFill>
                  <a:srgbClr val="5B636E"/>
                </a:solidFill>
                <a:latin typeface="Apple SD Gothic Neo"/>
                <a:ea typeface="Apple SD Gothic Neo"/>
                <a:cs typeface="Apple SD Gothic Neo"/>
              </a:rPr>
              <a:t>  7.5 km</a:t>
            </a:r>
          </a:p>
        </p:txBody>
      </p:sp>
      <p:sp>
        <p:nvSpPr>
          <p:cNvPr id="20" name="TextBox 19"/>
          <p:cNvSpPr txBox="1"/>
          <p:nvPr/>
        </p:nvSpPr>
        <p:spPr>
          <a:xfrm>
            <a:off x="6355080" y="3927348"/>
            <a:ext cx="2377440" cy="548640"/>
          </a:xfrm>
          <a:prstGeom prst="rect">
            <a:avLst/>
          </a:prstGeom>
          <a:noFill/>
        </p:spPr>
        <p:txBody>
          <a:bodyPr wrap="square" anchor="t" lIns="0" rIns="0" tIns="0" bIns="0">
            <a:spAutoFit/>
          </a:bodyPr>
          <a:lstStyle/>
          <a:p>
            <a:pPr algn="l"/>
            <a:r>
              <a:rPr sz="1200" b="0" i="0">
                <a:solidFill>
                  <a:srgbClr val="5B636E"/>
                </a:solidFill>
                <a:latin typeface="Apple SD Gothic Neo"/>
                <a:ea typeface="Apple SD Gothic Neo"/>
                <a:cs typeface="Apple SD Gothic Neo"/>
              </a:rPr>
              <a:t>서부간선로 → 성산대교 → 강변북로 → 자유로</a:t>
            </a:r>
          </a:p>
        </p:txBody>
      </p:sp>
      <p:sp>
        <p:nvSpPr>
          <p:cNvPr id="21" name="TextBox 20"/>
          <p:cNvSpPr txBox="1"/>
          <p:nvPr/>
        </p:nvSpPr>
        <p:spPr>
          <a:xfrm>
            <a:off x="6355080" y="4475988"/>
            <a:ext cx="2377440" cy="640080"/>
          </a:xfrm>
          <a:prstGeom prst="rect">
            <a:avLst/>
          </a:prstGeom>
          <a:noFill/>
        </p:spPr>
        <p:txBody>
          <a:bodyPr wrap="square" anchor="t" lIns="0" rIns="0" tIns="0" bIns="0">
            <a:spAutoFit/>
          </a:bodyPr>
          <a:lstStyle/>
          <a:p>
            <a:pPr algn="l"/>
            <a:r>
              <a:rPr sz="1300" b="1" i="0">
                <a:solidFill>
                  <a:srgbClr val="0B6E4F"/>
                </a:solidFill>
                <a:latin typeface="Apple SD Gothic Neo"/>
                <a:ea typeface="Apple SD Gothic Neo"/>
                <a:cs typeface="Apple SD Gothic Neo"/>
              </a:rPr>
              <a:t>· 한강 횡단</a:t>
            </a:r>
          </a:p>
          <a:p>
            <a:pPr algn="l"/>
            <a:r>
              <a:rPr sz="1300" b="1" i="0">
                <a:solidFill>
                  <a:srgbClr val="0B6E4F"/>
                </a:solidFill>
                <a:latin typeface="Apple SD Gothic Neo"/>
                <a:ea typeface="Apple SD Gothic Neo"/>
                <a:cs typeface="Apple SD Gothic Neo"/>
              </a:rPr>
              <a:t>· 합류·진출 엇갈림</a:t>
            </a:r>
          </a:p>
        </p:txBody>
      </p:sp>
      <p:sp>
        <p:nvSpPr>
          <p:cNvPr id="22" name="seg_card_4"/>
          <p:cNvSpPr/>
          <p:nvPr/>
        </p:nvSpPr>
        <p:spPr>
          <a:xfrm>
            <a:off x="9052560" y="1508760"/>
            <a:ext cx="2651760" cy="3840480"/>
          </a:xfrm>
          <a:prstGeom prst="roundRect">
            <a:avLst>
              <a:gd name="adj" fmla="val 4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map_seg4.png"/>
          <p:cNvPicPr>
            <a:picLocks noChangeAspect="1"/>
          </p:cNvPicPr>
          <p:nvPr/>
        </p:nvPicPr>
        <p:blipFill>
          <a:blip r:embed="rId5"/>
          <a:stretch>
            <a:fillRect/>
          </a:stretch>
        </p:blipFill>
        <p:spPr>
          <a:xfrm>
            <a:off x="9144000" y="1600200"/>
            <a:ext cx="2468879" cy="1851659"/>
          </a:xfrm>
          <a:prstGeom prst="rect">
            <a:avLst/>
          </a:prstGeom>
        </p:spPr>
      </p:pic>
      <p:sp>
        <p:nvSpPr>
          <p:cNvPr id="24" name="badge_4"/>
          <p:cNvSpPr/>
          <p:nvPr/>
        </p:nvSpPr>
        <p:spPr>
          <a:xfrm>
            <a:off x="9217152" y="169164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1F2328"/>
                </a:solidFill>
                <a:latin typeface="Apple SD Gothic Neo"/>
                <a:ea typeface="Apple SD Gothic Neo"/>
                <a:cs typeface="Apple SD Gothic Neo"/>
              </a:rPr>
              <a:t>4</a:t>
            </a:r>
          </a:p>
        </p:txBody>
      </p:sp>
      <p:sp>
        <p:nvSpPr>
          <p:cNvPr id="25" name="TextBox 24"/>
          <p:cNvSpPr txBox="1"/>
          <p:nvPr/>
        </p:nvSpPr>
        <p:spPr>
          <a:xfrm>
            <a:off x="9189720" y="3543300"/>
            <a:ext cx="2377440" cy="411480"/>
          </a:xfrm>
          <a:prstGeom prst="rect">
            <a:avLst/>
          </a:prstGeom>
          <a:noFill/>
        </p:spPr>
        <p:txBody>
          <a:bodyPr wrap="square" anchor="t" lIns="0" rIns="0" tIns="0" bIns="0">
            <a:spAutoFit/>
          </a:bodyPr>
          <a:lstStyle/>
          <a:p>
            <a:pPr algn="l"/>
            <a:r>
              <a:rPr sz="1700" b="1" i="0">
                <a:solidFill>
                  <a:srgbClr val="1F2328"/>
                </a:solidFill>
                <a:latin typeface="Apple SD Gothic Neo"/>
                <a:ea typeface="Apple SD Gothic Neo"/>
                <a:cs typeface="Apple SD Gothic Neo"/>
              </a:rPr>
              <a:t>도착</a:t>
            </a:r>
            <a:r>
              <a:rPr sz="1400" b="0" i="0">
                <a:solidFill>
                  <a:srgbClr val="5B636E"/>
                </a:solidFill>
                <a:latin typeface="Apple SD Gothic Neo"/>
                <a:ea typeface="Apple SD Gothic Neo"/>
                <a:cs typeface="Apple SD Gothic Neo"/>
              </a:rPr>
              <a:t>  3.6 km</a:t>
            </a:r>
          </a:p>
        </p:txBody>
      </p:sp>
      <p:sp>
        <p:nvSpPr>
          <p:cNvPr id="26" name="TextBox 25"/>
          <p:cNvSpPr txBox="1"/>
          <p:nvPr/>
        </p:nvSpPr>
        <p:spPr>
          <a:xfrm>
            <a:off x="9189720" y="3927348"/>
            <a:ext cx="2377440" cy="548640"/>
          </a:xfrm>
          <a:prstGeom prst="rect">
            <a:avLst/>
          </a:prstGeom>
          <a:noFill/>
        </p:spPr>
        <p:txBody>
          <a:bodyPr wrap="square" anchor="t" lIns="0" rIns="0" tIns="0" bIns="0">
            <a:spAutoFit/>
          </a:bodyPr>
          <a:lstStyle/>
          <a:p>
            <a:pPr algn="l"/>
            <a:r>
              <a:rPr sz="1200" b="0" i="0">
                <a:solidFill>
                  <a:srgbClr val="5B636E"/>
                </a:solidFill>
                <a:latin typeface="Apple SD Gothic Neo"/>
                <a:ea typeface="Apple SD Gothic Neo"/>
                <a:cs typeface="Apple SD Gothic Neo"/>
              </a:rPr>
              <a:t>자유로 → 진출 램프 → 킨텍스로</a:t>
            </a:r>
          </a:p>
        </p:txBody>
      </p:sp>
      <p:sp>
        <p:nvSpPr>
          <p:cNvPr id="27" name="TextBox 26"/>
          <p:cNvSpPr txBox="1"/>
          <p:nvPr/>
        </p:nvSpPr>
        <p:spPr>
          <a:xfrm>
            <a:off x="9189720" y="4475988"/>
            <a:ext cx="2377440" cy="640080"/>
          </a:xfrm>
          <a:prstGeom prst="rect">
            <a:avLst/>
          </a:prstGeom>
          <a:noFill/>
        </p:spPr>
        <p:txBody>
          <a:bodyPr wrap="square" anchor="t" lIns="0" rIns="0" tIns="0" bIns="0">
            <a:spAutoFit/>
          </a:bodyPr>
          <a:lstStyle/>
          <a:p>
            <a:pPr algn="l"/>
            <a:r>
              <a:rPr sz="1300" b="1" i="0">
                <a:solidFill>
                  <a:srgbClr val="0B6E4F"/>
                </a:solidFill>
                <a:latin typeface="Apple SD Gothic Neo"/>
                <a:ea typeface="Apple SD Gothic Neo"/>
                <a:cs typeface="Apple SD Gothic Neo"/>
              </a:rPr>
              <a:t>· 출구 차선 확보</a:t>
            </a:r>
          </a:p>
          <a:p>
            <a:pPr algn="l"/>
            <a:r>
              <a:rPr sz="1300" b="1" i="0">
                <a:solidFill>
                  <a:srgbClr val="0B6E4F"/>
                </a:solidFill>
                <a:latin typeface="Apple SD Gothic Neo"/>
                <a:ea typeface="Apple SD Gothic Neo"/>
                <a:cs typeface="Apple SD Gothic Neo"/>
              </a:rPr>
              <a:t>· 도심 신호, 목적지</a:t>
            </a:r>
          </a:p>
        </p:txBody>
      </p:sp>
      <p:sp>
        <p:nvSpPr>
          <p:cNvPr id="28" name="step_1"/>
          <p:cNvSpPr/>
          <p:nvPr/>
        </p:nvSpPr>
        <p:spPr>
          <a:xfrm>
            <a:off x="548640" y="5559552"/>
            <a:ext cx="2011680" cy="777240"/>
          </a:xfrm>
          <a:prstGeom prst="roundRect">
            <a:avLst>
              <a:gd name="adj" fmla="val 12000"/>
            </a:avLst>
          </a:prstGeom>
          <a:solidFill>
            <a:srgbClr val="FFFFFF"/>
          </a:solidFill>
          <a:ln w="12700">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5559552"/>
            <a:ext cx="2011680" cy="777240"/>
          </a:xfrm>
          <a:prstGeom prst="rect">
            <a:avLst/>
          </a:prstGeom>
          <a:noFill/>
        </p:spPr>
        <p:txBody>
          <a:bodyPr wrap="square" anchor="ctr" lIns="0" rIns="0" tIns="0" bIns="0">
            <a:spAutoFit/>
          </a:bodyPr>
          <a:lstStyle/>
          <a:p>
            <a:pPr algn="ctr"/>
            <a:r>
              <a:rPr sz="1300" b="1" i="0">
                <a:solidFill>
                  <a:srgbClr val="1F2328"/>
                </a:solidFill>
                <a:latin typeface="Apple SD Gothic Neo"/>
                <a:ea typeface="Apple SD Gothic Neo"/>
                <a:cs typeface="Apple SD Gothic Neo"/>
              </a:rPr>
              <a:t>OpenStreetMap
지도 받기</a:t>
            </a:r>
          </a:p>
        </p:txBody>
      </p:sp>
      <p:sp>
        <p:nvSpPr>
          <p:cNvPr id="30" name="Right Arrow 29"/>
          <p:cNvSpPr/>
          <p:nvPr/>
        </p:nvSpPr>
        <p:spPr>
          <a:xfrm>
            <a:off x="2596896" y="5833872"/>
            <a:ext cx="173736" cy="228600"/>
          </a:xfrm>
          <a:prstGeom prst="rightArrow">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tep_2"/>
          <p:cNvSpPr/>
          <p:nvPr/>
        </p:nvSpPr>
        <p:spPr>
          <a:xfrm>
            <a:off x="2807208" y="5559552"/>
            <a:ext cx="2011680" cy="777240"/>
          </a:xfrm>
          <a:prstGeom prst="roundRect">
            <a:avLst>
              <a:gd name="adj" fmla="val 12000"/>
            </a:avLst>
          </a:prstGeom>
          <a:solidFill>
            <a:srgbClr val="FFFFFF"/>
          </a:solidFill>
          <a:ln w="12700">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807208" y="5559552"/>
            <a:ext cx="2011680" cy="777240"/>
          </a:xfrm>
          <a:prstGeom prst="rect">
            <a:avLst/>
          </a:prstGeom>
          <a:noFill/>
        </p:spPr>
        <p:txBody>
          <a:bodyPr wrap="square" anchor="ctr" lIns="0" rIns="0" tIns="0" bIns="0">
            <a:spAutoFit/>
          </a:bodyPr>
          <a:lstStyle/>
          <a:p>
            <a:pPr algn="ctr"/>
            <a:r>
              <a:rPr sz="1300" b="1" i="0">
                <a:solidFill>
                  <a:srgbClr val="1F2328"/>
                </a:solidFill>
                <a:latin typeface="Apple SD Gothic Neo"/>
                <a:ea typeface="Apple SD Gothic Neo"/>
                <a:cs typeface="Apple SD Gothic Neo"/>
              </a:rPr>
              <a:t>SUMO 도로로
변환</a:t>
            </a:r>
          </a:p>
        </p:txBody>
      </p:sp>
      <p:sp>
        <p:nvSpPr>
          <p:cNvPr id="33" name="Right Arrow 32"/>
          <p:cNvSpPr/>
          <p:nvPr/>
        </p:nvSpPr>
        <p:spPr>
          <a:xfrm>
            <a:off x="4855464" y="5833872"/>
            <a:ext cx="173736" cy="228600"/>
          </a:xfrm>
          <a:prstGeom prst="rightArrow">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ep_3"/>
          <p:cNvSpPr/>
          <p:nvPr/>
        </p:nvSpPr>
        <p:spPr>
          <a:xfrm>
            <a:off x="5065776" y="5559552"/>
            <a:ext cx="2011680" cy="777240"/>
          </a:xfrm>
          <a:prstGeom prst="roundRect">
            <a:avLst>
              <a:gd name="adj" fmla="val 12000"/>
            </a:avLst>
          </a:prstGeom>
          <a:solidFill>
            <a:srgbClr val="FFFFFF"/>
          </a:solidFill>
          <a:ln w="12700">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65776" y="5559552"/>
            <a:ext cx="2011680" cy="777240"/>
          </a:xfrm>
          <a:prstGeom prst="rect">
            <a:avLst/>
          </a:prstGeom>
          <a:noFill/>
        </p:spPr>
        <p:txBody>
          <a:bodyPr wrap="square" anchor="ctr" lIns="0" rIns="0" tIns="0" bIns="0">
            <a:spAutoFit/>
          </a:bodyPr>
          <a:lstStyle/>
          <a:p>
            <a:pPr algn="ctr"/>
            <a:r>
              <a:rPr sz="1300" b="1" i="0">
                <a:solidFill>
                  <a:srgbClr val="1F2328"/>
                </a:solidFill>
                <a:latin typeface="Apple SD Gothic Neo"/>
                <a:ea typeface="Apple SD Gothic Neo"/>
                <a:cs typeface="Apple SD Gothic Neo"/>
              </a:rPr>
              <a:t>로드뷰로 차선·
신호 보정</a:t>
            </a:r>
          </a:p>
        </p:txBody>
      </p:sp>
      <p:sp>
        <p:nvSpPr>
          <p:cNvPr id="36" name="Right Arrow 35"/>
          <p:cNvSpPr/>
          <p:nvPr/>
        </p:nvSpPr>
        <p:spPr>
          <a:xfrm>
            <a:off x="7114032" y="5833872"/>
            <a:ext cx="173736" cy="228600"/>
          </a:xfrm>
          <a:prstGeom prst="rightArrow">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tep_4"/>
          <p:cNvSpPr/>
          <p:nvPr/>
        </p:nvSpPr>
        <p:spPr>
          <a:xfrm>
            <a:off x="7324344" y="5559552"/>
            <a:ext cx="2011680" cy="777240"/>
          </a:xfrm>
          <a:prstGeom prst="roundRect">
            <a:avLst>
              <a:gd name="adj" fmla="val 12000"/>
            </a:avLst>
          </a:prstGeom>
          <a:solidFill>
            <a:srgbClr val="FFFFFF"/>
          </a:solidFill>
          <a:ln w="12700">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24344" y="5559552"/>
            <a:ext cx="2011680" cy="777240"/>
          </a:xfrm>
          <a:prstGeom prst="rect">
            <a:avLst/>
          </a:prstGeom>
          <a:noFill/>
        </p:spPr>
        <p:txBody>
          <a:bodyPr wrap="square" anchor="ctr" lIns="0" rIns="0" tIns="0" bIns="0">
            <a:spAutoFit/>
          </a:bodyPr>
          <a:lstStyle/>
          <a:p>
            <a:pPr algn="ctr"/>
            <a:r>
              <a:rPr sz="1300" b="1" i="0">
                <a:solidFill>
                  <a:srgbClr val="1F2328"/>
                </a:solidFill>
                <a:latin typeface="Apple SD Gothic Neo"/>
                <a:ea typeface="Apple SD Gothic Neo"/>
                <a:cs typeface="Apple SD Gothic Neo"/>
              </a:rPr>
              <a:t>구간별 학습·
평가</a:t>
            </a:r>
          </a:p>
        </p:txBody>
      </p:sp>
      <p:sp>
        <p:nvSpPr>
          <p:cNvPr id="39" name="Right Arrow 38"/>
          <p:cNvSpPr/>
          <p:nvPr/>
        </p:nvSpPr>
        <p:spPr>
          <a:xfrm>
            <a:off x="9372600" y="5833872"/>
            <a:ext cx="173736" cy="228600"/>
          </a:xfrm>
          <a:prstGeom prst="rightArrow">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tep_5"/>
          <p:cNvSpPr/>
          <p:nvPr/>
        </p:nvSpPr>
        <p:spPr>
          <a:xfrm>
            <a:off x="9582912" y="5559552"/>
            <a:ext cx="2011680" cy="777240"/>
          </a:xfrm>
          <a:prstGeom prst="roundRect">
            <a:avLst>
              <a:gd name="adj" fmla="val 12000"/>
            </a:avLst>
          </a:prstGeom>
          <a:solidFill>
            <a:srgbClr val="FFFFFF"/>
          </a:solidFill>
          <a:ln w="12700">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582912" y="5559552"/>
            <a:ext cx="2011680" cy="777240"/>
          </a:xfrm>
          <a:prstGeom prst="rect">
            <a:avLst/>
          </a:prstGeom>
          <a:noFill/>
        </p:spPr>
        <p:txBody>
          <a:bodyPr wrap="square" anchor="ctr" lIns="0" rIns="0" tIns="0" bIns="0">
            <a:spAutoFit/>
          </a:bodyPr>
          <a:lstStyle/>
          <a:p>
            <a:pPr algn="ctr"/>
            <a:r>
              <a:rPr sz="1300" b="1" i="0">
                <a:solidFill>
                  <a:srgbClr val="1F2328"/>
                </a:solidFill>
                <a:latin typeface="Apple SD Gothic Neo"/>
                <a:ea typeface="Apple SD Gothic Neo"/>
                <a:cs typeface="Apple SD Gothic Neo"/>
              </a:rPr>
              <a:t>전체 경로
시연 영상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84048"/>
            <a:ext cx="11064240" cy="685800"/>
          </a:xfrm>
          <a:prstGeom prst="rect">
            <a:avLst/>
          </a:prstGeom>
          <a:noFill/>
        </p:spPr>
        <p:txBody>
          <a:bodyPr wrap="square" anchor="t" lIns="0" rIns="0" tIns="0" bIns="0">
            <a:spAutoFit/>
          </a:bodyPr>
          <a:lstStyle/>
          <a:p>
            <a:pPr algn="l"/>
            <a:r>
              <a:rPr sz="3200" b="1" i="0">
                <a:solidFill>
                  <a:srgbClr val="1F2328"/>
                </a:solidFill>
                <a:latin typeface="Apple SD Gothic Neo"/>
                <a:ea typeface="Apple SD Gothic Neo"/>
                <a:cs typeface="Apple SD Gothic Neo"/>
              </a:rPr>
              <a:t>도로 구조가 AV의 결정을 만든다</a:t>
            </a:r>
          </a:p>
        </p:txBody>
      </p:sp>
      <p:sp>
        <p:nvSpPr>
          <p:cNvPr id="3" name="subtitle"/>
          <p:cNvSpPr txBox="1"/>
          <p:nvPr/>
        </p:nvSpPr>
        <p:spPr>
          <a:xfrm>
            <a:off x="548640" y="1024128"/>
            <a:ext cx="11064240" cy="365760"/>
          </a:xfrm>
          <a:prstGeom prst="rect">
            <a:avLst/>
          </a:prstGeom>
          <a:noFill/>
        </p:spPr>
        <p:txBody>
          <a:bodyPr wrap="square" anchor="t" lIns="0" rIns="0" tIns="0" bIns="0">
            <a:spAutoFit/>
          </a:bodyPr>
          <a:lstStyle/>
          <a:p>
            <a:pPr algn="l"/>
            <a:r>
              <a:rPr sz="1500" b="0" i="0">
                <a:solidFill>
                  <a:srgbClr val="5B636E"/>
                </a:solidFill>
                <a:latin typeface="Apple SD Gothic Neo"/>
                <a:ea typeface="Apple SD Gothic Neo"/>
                <a:cs typeface="Apple SD Gothic Neo"/>
              </a:rPr>
              <a:t>구조  →  일반 차량과의 상호작용  →  AV가 내려야 하는 결정</a:t>
            </a:r>
          </a:p>
        </p:txBody>
      </p:sp>
      <p:sp>
        <p:nvSpPr>
          <p:cNvPr id="4" name="TextBox 3"/>
          <p:cNvSpPr txBox="1"/>
          <p:nvPr/>
        </p:nvSpPr>
        <p:spPr>
          <a:xfrm>
            <a:off x="731520" y="1481328"/>
            <a:ext cx="3520440" cy="365760"/>
          </a:xfrm>
          <a:prstGeom prst="rect">
            <a:avLst/>
          </a:prstGeom>
          <a:noFill/>
        </p:spPr>
        <p:txBody>
          <a:bodyPr wrap="square" anchor="t" lIns="0" rIns="0" tIns="0" bIns="0">
            <a:spAutoFit/>
          </a:bodyPr>
          <a:lstStyle/>
          <a:p>
            <a:pPr algn="l"/>
            <a:r>
              <a:rPr sz="1500" b="1" i="0">
                <a:solidFill>
                  <a:srgbClr val="0B6E4F"/>
                </a:solidFill>
                <a:latin typeface="Apple SD Gothic Neo"/>
                <a:ea typeface="Apple SD Gothic Neo"/>
                <a:cs typeface="Apple SD Gothic Neo"/>
              </a:rPr>
              <a:t>도로 구조</a:t>
            </a:r>
          </a:p>
        </p:txBody>
      </p:sp>
      <p:sp>
        <p:nvSpPr>
          <p:cNvPr id="5" name="TextBox 4"/>
          <p:cNvSpPr txBox="1"/>
          <p:nvPr/>
        </p:nvSpPr>
        <p:spPr>
          <a:xfrm>
            <a:off x="4526280" y="1481328"/>
            <a:ext cx="3520440" cy="365760"/>
          </a:xfrm>
          <a:prstGeom prst="rect">
            <a:avLst/>
          </a:prstGeom>
          <a:noFill/>
        </p:spPr>
        <p:txBody>
          <a:bodyPr wrap="square" anchor="t" lIns="0" rIns="0" tIns="0" bIns="0">
            <a:spAutoFit/>
          </a:bodyPr>
          <a:lstStyle/>
          <a:p>
            <a:pPr algn="l"/>
            <a:r>
              <a:rPr sz="1500" b="1" i="0">
                <a:solidFill>
                  <a:srgbClr val="0B6E4F"/>
                </a:solidFill>
                <a:latin typeface="Apple SD Gothic Neo"/>
                <a:ea typeface="Apple SD Gothic Neo"/>
                <a:cs typeface="Apple SD Gothic Neo"/>
              </a:rPr>
              <a:t>일반 차량과의 상호작용</a:t>
            </a:r>
          </a:p>
        </p:txBody>
      </p:sp>
      <p:sp>
        <p:nvSpPr>
          <p:cNvPr id="6" name="TextBox 5"/>
          <p:cNvSpPr txBox="1"/>
          <p:nvPr/>
        </p:nvSpPr>
        <p:spPr>
          <a:xfrm>
            <a:off x="8321040" y="1481328"/>
            <a:ext cx="3520440" cy="365760"/>
          </a:xfrm>
          <a:prstGeom prst="rect">
            <a:avLst/>
          </a:prstGeom>
          <a:noFill/>
        </p:spPr>
        <p:txBody>
          <a:bodyPr wrap="square" anchor="t" lIns="0" rIns="0" tIns="0" bIns="0">
            <a:spAutoFit/>
          </a:bodyPr>
          <a:lstStyle/>
          <a:p>
            <a:pPr algn="l"/>
            <a:r>
              <a:rPr sz="1500" b="1" i="0">
                <a:solidFill>
                  <a:srgbClr val="0B6E4F"/>
                </a:solidFill>
                <a:latin typeface="Apple SD Gothic Neo"/>
                <a:ea typeface="Apple SD Gothic Neo"/>
                <a:cs typeface="Apple SD Gothic Neo"/>
              </a:rPr>
              <a:t>AV의 결정</a:t>
            </a:r>
          </a:p>
        </p:txBody>
      </p:sp>
      <p:sp>
        <p:nvSpPr>
          <p:cNvPr id="7" name="r0c0"/>
          <p:cNvSpPr/>
          <p:nvPr/>
        </p:nvSpPr>
        <p:spPr>
          <a:xfrm>
            <a:off x="548640" y="1901952"/>
            <a:ext cx="3520440" cy="658368"/>
          </a:xfrm>
          <a:prstGeom prst="roundRect">
            <a:avLst>
              <a:gd name="adj" fmla="val 12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17319" y="1901952"/>
            <a:ext cx="2560320" cy="658368"/>
          </a:xfrm>
          <a:prstGeom prst="rect">
            <a:avLst/>
          </a:prstGeom>
          <a:noFill/>
        </p:spPr>
        <p:txBody>
          <a:bodyPr wrap="square" anchor="ctr" lIns="0" rIns="0" tIns="0" bIns="0">
            <a:spAutoFit/>
          </a:bodyPr>
          <a:lstStyle/>
          <a:p>
            <a:pPr algn="l"/>
            <a:r>
              <a:rPr sz="1400" b="1" i="0">
                <a:solidFill>
                  <a:srgbClr val="1F2328"/>
                </a:solidFill>
                <a:latin typeface="Apple SD Gothic Neo"/>
                <a:ea typeface="Apple SD Gothic Neo"/>
                <a:cs typeface="Apple SD Gothic Neo"/>
              </a:rPr>
              <a:t>진입 램프 합류</a:t>
            </a:r>
          </a:p>
        </p:txBody>
      </p:sp>
      <p:sp>
        <p:nvSpPr>
          <p:cNvPr id="9" name="Right Arrow 8"/>
          <p:cNvSpPr/>
          <p:nvPr/>
        </p:nvSpPr>
        <p:spPr>
          <a:xfrm>
            <a:off x="4142232" y="2121408"/>
            <a:ext cx="128016" cy="219456"/>
          </a:xfrm>
          <a:prstGeom prst="rightArrow">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0c1"/>
          <p:cNvSpPr/>
          <p:nvPr/>
        </p:nvSpPr>
        <p:spPr>
          <a:xfrm>
            <a:off x="4343400" y="1901952"/>
            <a:ext cx="3520440" cy="658368"/>
          </a:xfrm>
          <a:prstGeom prst="roundRect">
            <a:avLst>
              <a:gd name="adj" fmla="val 12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901952"/>
            <a:ext cx="3246120" cy="658368"/>
          </a:xfrm>
          <a:prstGeom prst="rect">
            <a:avLst/>
          </a:prstGeom>
          <a:noFill/>
        </p:spPr>
        <p:txBody>
          <a:bodyPr wrap="square" anchor="ctr" lIns="0" rIns="0" tIns="0" bIns="0">
            <a:spAutoFit/>
          </a:bodyPr>
          <a:lstStyle/>
          <a:p>
            <a:pPr algn="l"/>
            <a:r>
              <a:rPr sz="1400" b="0" i="0">
                <a:solidFill>
                  <a:srgbClr val="1F2328"/>
                </a:solidFill>
                <a:latin typeface="Apple SD Gothic Neo"/>
                <a:ea typeface="Apple SD Gothic Neo"/>
                <a:cs typeface="Apple SD Gothic Neo"/>
              </a:rPr>
              <a:t>본선 차량 사이 틈이 계속 바뀜</a:t>
            </a:r>
          </a:p>
        </p:txBody>
      </p:sp>
      <p:sp>
        <p:nvSpPr>
          <p:cNvPr id="12" name="Right Arrow 11"/>
          <p:cNvSpPr/>
          <p:nvPr/>
        </p:nvSpPr>
        <p:spPr>
          <a:xfrm>
            <a:off x="7936992" y="2121408"/>
            <a:ext cx="128016" cy="219456"/>
          </a:xfrm>
          <a:prstGeom prst="rightArrow">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0c2"/>
          <p:cNvSpPr/>
          <p:nvPr/>
        </p:nvSpPr>
        <p:spPr>
          <a:xfrm>
            <a:off x="8138160" y="1901952"/>
            <a:ext cx="3520440" cy="658368"/>
          </a:xfrm>
          <a:prstGeom prst="roundRect">
            <a:avLst>
              <a:gd name="adj" fmla="val 12000"/>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1901952"/>
            <a:ext cx="3246120" cy="658368"/>
          </a:xfrm>
          <a:prstGeom prst="rect">
            <a:avLst/>
          </a:prstGeom>
          <a:noFill/>
        </p:spPr>
        <p:txBody>
          <a:bodyPr wrap="square" anchor="ctr" lIns="0" rIns="0" tIns="0" bIns="0">
            <a:spAutoFit/>
          </a:bodyPr>
          <a:lstStyle/>
          <a:p>
            <a:pPr algn="l"/>
            <a:r>
              <a:rPr sz="1400" b="1" i="0">
                <a:solidFill>
                  <a:srgbClr val="1F2328"/>
                </a:solidFill>
                <a:latin typeface="Apple SD Gothic Neo"/>
                <a:ea typeface="Apple SD Gothic Neo"/>
                <a:cs typeface="Apple SD Gothic Neo"/>
              </a:rPr>
              <a:t>합류 시점과 속도</a:t>
            </a:r>
          </a:p>
        </p:txBody>
      </p:sp>
      <p:sp>
        <p:nvSpPr>
          <p:cNvPr id="15" name="segtag_0"/>
          <p:cNvSpPr/>
          <p:nvPr/>
        </p:nvSpPr>
        <p:spPr>
          <a:xfrm>
            <a:off x="685800" y="2057400"/>
            <a:ext cx="621792" cy="347472"/>
          </a:xfrm>
          <a:prstGeom prst="roundRect">
            <a:avLst>
              <a:gd name="adj" fmla="val 30000"/>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057400"/>
            <a:ext cx="621792" cy="347472"/>
          </a:xfrm>
          <a:prstGeom prst="rect">
            <a:avLst/>
          </a:prstGeom>
          <a:noFill/>
        </p:spPr>
        <p:txBody>
          <a:bodyPr wrap="square" anchor="ctr" lIns="0" rIns="0" tIns="0" bIns="0">
            <a:spAutoFit/>
          </a:bodyPr>
          <a:lstStyle/>
          <a:p>
            <a:pPr algn="ctr"/>
            <a:r>
              <a:rPr sz="1100" b="1" i="0">
                <a:solidFill>
                  <a:srgbClr val="FFFFFF"/>
                </a:solidFill>
                <a:latin typeface="Apple SD Gothic Neo"/>
                <a:ea typeface="Apple SD Gothic Neo"/>
                <a:cs typeface="Apple SD Gothic Neo"/>
              </a:rPr>
              <a:t>1</a:t>
            </a:r>
          </a:p>
        </p:txBody>
      </p:sp>
      <p:sp>
        <p:nvSpPr>
          <p:cNvPr id="17" name="r1c0"/>
          <p:cNvSpPr/>
          <p:nvPr/>
        </p:nvSpPr>
        <p:spPr>
          <a:xfrm>
            <a:off x="548640" y="2688336"/>
            <a:ext cx="3520440" cy="658368"/>
          </a:xfrm>
          <a:prstGeom prst="roundRect">
            <a:avLst>
              <a:gd name="adj" fmla="val 12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17319" y="2688336"/>
            <a:ext cx="2560320" cy="658368"/>
          </a:xfrm>
          <a:prstGeom prst="rect">
            <a:avLst/>
          </a:prstGeom>
          <a:noFill/>
        </p:spPr>
        <p:txBody>
          <a:bodyPr wrap="square" anchor="ctr" lIns="0" rIns="0" tIns="0" bIns="0">
            <a:spAutoFit/>
          </a:bodyPr>
          <a:lstStyle/>
          <a:p>
            <a:pPr algn="l"/>
            <a:r>
              <a:rPr sz="1400" b="1" i="0">
                <a:solidFill>
                  <a:srgbClr val="1F2328"/>
                </a:solidFill>
                <a:latin typeface="Apple SD Gothic Neo"/>
                <a:ea typeface="Apple SD Gothic Neo"/>
                <a:cs typeface="Apple SD Gothic Neo"/>
              </a:rPr>
              <a:t>분기 · 출구</a:t>
            </a:r>
          </a:p>
        </p:txBody>
      </p:sp>
      <p:sp>
        <p:nvSpPr>
          <p:cNvPr id="19" name="Right Arrow 18"/>
          <p:cNvSpPr/>
          <p:nvPr/>
        </p:nvSpPr>
        <p:spPr>
          <a:xfrm>
            <a:off x="4142232" y="2907791"/>
            <a:ext cx="128016" cy="219456"/>
          </a:xfrm>
          <a:prstGeom prst="rightArrow">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1c1"/>
          <p:cNvSpPr/>
          <p:nvPr/>
        </p:nvSpPr>
        <p:spPr>
          <a:xfrm>
            <a:off x="4343400" y="2688336"/>
            <a:ext cx="3520440" cy="658368"/>
          </a:xfrm>
          <a:prstGeom prst="roundRect">
            <a:avLst>
              <a:gd name="adj" fmla="val 12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26280" y="2688336"/>
            <a:ext cx="3246120" cy="658368"/>
          </a:xfrm>
          <a:prstGeom prst="rect">
            <a:avLst/>
          </a:prstGeom>
          <a:noFill/>
        </p:spPr>
        <p:txBody>
          <a:bodyPr wrap="square" anchor="ctr" lIns="0" rIns="0" tIns="0" bIns="0">
            <a:spAutoFit/>
          </a:bodyPr>
          <a:lstStyle/>
          <a:p>
            <a:pPr algn="l"/>
            <a:r>
              <a:rPr sz="1400" b="0" i="0">
                <a:solidFill>
                  <a:srgbClr val="1F2328"/>
                </a:solidFill>
                <a:latin typeface="Apple SD Gothic Neo"/>
                <a:ea typeface="Apple SD Gothic Neo"/>
                <a:cs typeface="Apple SD Gothic Neo"/>
              </a:rPr>
              <a:t>직진 차량과 출구 차량이 차선을 엇갈림</a:t>
            </a:r>
          </a:p>
        </p:txBody>
      </p:sp>
      <p:sp>
        <p:nvSpPr>
          <p:cNvPr id="22" name="Right Arrow 21"/>
          <p:cNvSpPr/>
          <p:nvPr/>
        </p:nvSpPr>
        <p:spPr>
          <a:xfrm>
            <a:off x="7936992" y="2907791"/>
            <a:ext cx="128016" cy="219456"/>
          </a:xfrm>
          <a:prstGeom prst="rightArrow">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1c2"/>
          <p:cNvSpPr/>
          <p:nvPr/>
        </p:nvSpPr>
        <p:spPr>
          <a:xfrm>
            <a:off x="8138160" y="2688336"/>
            <a:ext cx="3520440" cy="658368"/>
          </a:xfrm>
          <a:prstGeom prst="roundRect">
            <a:avLst>
              <a:gd name="adj" fmla="val 12000"/>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40" y="2688336"/>
            <a:ext cx="3246120" cy="658368"/>
          </a:xfrm>
          <a:prstGeom prst="rect">
            <a:avLst/>
          </a:prstGeom>
          <a:noFill/>
        </p:spPr>
        <p:txBody>
          <a:bodyPr wrap="square" anchor="ctr" lIns="0" rIns="0" tIns="0" bIns="0">
            <a:spAutoFit/>
          </a:bodyPr>
          <a:lstStyle/>
          <a:p>
            <a:pPr algn="l"/>
            <a:r>
              <a:rPr sz="1400" b="1" i="0">
                <a:solidFill>
                  <a:srgbClr val="1F2328"/>
                </a:solidFill>
                <a:latin typeface="Apple SD Gothic Neo"/>
                <a:ea typeface="Apple SD Gothic Neo"/>
                <a:cs typeface="Apple SD Gothic Neo"/>
              </a:rPr>
              <a:t>출구 차선으로 언제 옮길지</a:t>
            </a:r>
          </a:p>
        </p:txBody>
      </p:sp>
      <p:sp>
        <p:nvSpPr>
          <p:cNvPr id="25" name="segtag_1"/>
          <p:cNvSpPr/>
          <p:nvPr/>
        </p:nvSpPr>
        <p:spPr>
          <a:xfrm>
            <a:off x="685800" y="2843784"/>
            <a:ext cx="621792" cy="347472"/>
          </a:xfrm>
          <a:prstGeom prst="roundRect">
            <a:avLst>
              <a:gd name="adj" fmla="val 30000"/>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2843784"/>
            <a:ext cx="621792" cy="347472"/>
          </a:xfrm>
          <a:prstGeom prst="rect">
            <a:avLst/>
          </a:prstGeom>
          <a:noFill/>
        </p:spPr>
        <p:txBody>
          <a:bodyPr wrap="square" anchor="ctr" lIns="0" rIns="0" tIns="0" bIns="0">
            <a:spAutoFit/>
          </a:bodyPr>
          <a:lstStyle/>
          <a:p>
            <a:pPr algn="ctr"/>
            <a:r>
              <a:rPr sz="1100" b="1" i="0">
                <a:solidFill>
                  <a:srgbClr val="FFFFFF"/>
                </a:solidFill>
                <a:latin typeface="Apple SD Gothic Neo"/>
                <a:ea typeface="Apple SD Gothic Neo"/>
                <a:cs typeface="Apple SD Gothic Neo"/>
              </a:rPr>
              <a:t>2·4</a:t>
            </a:r>
          </a:p>
        </p:txBody>
      </p:sp>
      <p:sp>
        <p:nvSpPr>
          <p:cNvPr id="27" name="r2c0"/>
          <p:cNvSpPr/>
          <p:nvPr/>
        </p:nvSpPr>
        <p:spPr>
          <a:xfrm>
            <a:off x="548640" y="3474720"/>
            <a:ext cx="3520440" cy="658368"/>
          </a:xfrm>
          <a:prstGeom prst="roundRect">
            <a:avLst>
              <a:gd name="adj" fmla="val 12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417319" y="3474720"/>
            <a:ext cx="2560320" cy="658368"/>
          </a:xfrm>
          <a:prstGeom prst="rect">
            <a:avLst/>
          </a:prstGeom>
          <a:noFill/>
        </p:spPr>
        <p:txBody>
          <a:bodyPr wrap="square" anchor="ctr" lIns="0" rIns="0" tIns="0" bIns="0">
            <a:spAutoFit/>
          </a:bodyPr>
          <a:lstStyle/>
          <a:p>
            <a:pPr algn="l"/>
            <a:r>
              <a:rPr sz="1400" b="1" i="0">
                <a:solidFill>
                  <a:srgbClr val="1F2328"/>
                </a:solidFill>
                <a:latin typeface="Apple SD Gothic Neo"/>
                <a:ea typeface="Apple SD Gothic Neo"/>
                <a:cs typeface="Apple SD Gothic Neo"/>
              </a:rPr>
              <a:t>합류·진출 엇갈림</a:t>
            </a:r>
          </a:p>
        </p:txBody>
      </p:sp>
      <p:sp>
        <p:nvSpPr>
          <p:cNvPr id="29" name="Right Arrow 28"/>
          <p:cNvSpPr/>
          <p:nvPr/>
        </p:nvSpPr>
        <p:spPr>
          <a:xfrm>
            <a:off x="4142232" y="3694176"/>
            <a:ext cx="128016" cy="219456"/>
          </a:xfrm>
          <a:prstGeom prst="rightArrow">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2c1"/>
          <p:cNvSpPr/>
          <p:nvPr/>
        </p:nvSpPr>
        <p:spPr>
          <a:xfrm>
            <a:off x="4343400" y="3474720"/>
            <a:ext cx="3520440" cy="658368"/>
          </a:xfrm>
          <a:prstGeom prst="roundRect">
            <a:avLst>
              <a:gd name="adj" fmla="val 12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26280" y="3474720"/>
            <a:ext cx="3246120" cy="658368"/>
          </a:xfrm>
          <a:prstGeom prst="rect">
            <a:avLst/>
          </a:prstGeom>
          <a:noFill/>
        </p:spPr>
        <p:txBody>
          <a:bodyPr wrap="square" anchor="ctr" lIns="0" rIns="0" tIns="0" bIns="0">
            <a:spAutoFit/>
          </a:bodyPr>
          <a:lstStyle/>
          <a:p>
            <a:pPr algn="l"/>
            <a:r>
              <a:rPr sz="1400" b="0" i="0">
                <a:solidFill>
                  <a:srgbClr val="1F2328"/>
                </a:solidFill>
                <a:latin typeface="Apple SD Gothic Neo"/>
                <a:ea typeface="Apple SD Gothic Neo"/>
                <a:cs typeface="Apple SD Gothic Neo"/>
              </a:rPr>
              <a:t>들어오는 차와 나가는 차가 짧은 구간에서 교차</a:t>
            </a:r>
          </a:p>
        </p:txBody>
      </p:sp>
      <p:sp>
        <p:nvSpPr>
          <p:cNvPr id="32" name="Right Arrow 31"/>
          <p:cNvSpPr/>
          <p:nvPr/>
        </p:nvSpPr>
        <p:spPr>
          <a:xfrm>
            <a:off x="7936992" y="3694176"/>
            <a:ext cx="128016" cy="219456"/>
          </a:xfrm>
          <a:prstGeom prst="rightArrow">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2c2"/>
          <p:cNvSpPr/>
          <p:nvPr/>
        </p:nvSpPr>
        <p:spPr>
          <a:xfrm>
            <a:off x="8138160" y="3474720"/>
            <a:ext cx="3520440" cy="658368"/>
          </a:xfrm>
          <a:prstGeom prst="roundRect">
            <a:avLst>
              <a:gd name="adj" fmla="val 12000"/>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21040" y="3474720"/>
            <a:ext cx="3246120" cy="658368"/>
          </a:xfrm>
          <a:prstGeom prst="rect">
            <a:avLst/>
          </a:prstGeom>
          <a:noFill/>
        </p:spPr>
        <p:txBody>
          <a:bodyPr wrap="square" anchor="ctr" lIns="0" rIns="0" tIns="0" bIns="0">
            <a:spAutoFit/>
          </a:bodyPr>
          <a:lstStyle/>
          <a:p>
            <a:pPr algn="l"/>
            <a:r>
              <a:rPr sz="1400" b="1" i="0">
                <a:solidFill>
                  <a:srgbClr val="1F2328"/>
                </a:solidFill>
                <a:latin typeface="Apple SD Gothic Neo"/>
                <a:ea typeface="Apple SD Gothic Neo"/>
                <a:cs typeface="Apple SD Gothic Neo"/>
              </a:rPr>
              <a:t>양보할지, 틈으로 들어갈지</a:t>
            </a:r>
          </a:p>
        </p:txBody>
      </p:sp>
      <p:sp>
        <p:nvSpPr>
          <p:cNvPr id="35" name="segtag_2"/>
          <p:cNvSpPr/>
          <p:nvPr/>
        </p:nvSpPr>
        <p:spPr>
          <a:xfrm>
            <a:off x="685800" y="3630168"/>
            <a:ext cx="621792" cy="347472"/>
          </a:xfrm>
          <a:prstGeom prst="roundRect">
            <a:avLst>
              <a:gd name="adj" fmla="val 30000"/>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 y="3630168"/>
            <a:ext cx="621792" cy="347472"/>
          </a:xfrm>
          <a:prstGeom prst="rect">
            <a:avLst/>
          </a:prstGeom>
          <a:noFill/>
        </p:spPr>
        <p:txBody>
          <a:bodyPr wrap="square" anchor="ctr" lIns="0" rIns="0" tIns="0" bIns="0">
            <a:spAutoFit/>
          </a:bodyPr>
          <a:lstStyle/>
          <a:p>
            <a:pPr algn="ctr"/>
            <a:r>
              <a:rPr sz="1100" b="1" i="0">
                <a:solidFill>
                  <a:srgbClr val="FFFFFF"/>
                </a:solidFill>
                <a:latin typeface="Apple SD Gothic Neo"/>
                <a:ea typeface="Apple SD Gothic Neo"/>
                <a:cs typeface="Apple SD Gothic Neo"/>
              </a:rPr>
              <a:t>3</a:t>
            </a:r>
          </a:p>
        </p:txBody>
      </p:sp>
      <p:sp>
        <p:nvSpPr>
          <p:cNvPr id="37" name="r3c0"/>
          <p:cNvSpPr/>
          <p:nvPr/>
        </p:nvSpPr>
        <p:spPr>
          <a:xfrm>
            <a:off x="548640" y="4261104"/>
            <a:ext cx="3520440" cy="658368"/>
          </a:xfrm>
          <a:prstGeom prst="roundRect">
            <a:avLst>
              <a:gd name="adj" fmla="val 12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417319" y="4261104"/>
            <a:ext cx="2560320" cy="658368"/>
          </a:xfrm>
          <a:prstGeom prst="rect">
            <a:avLst/>
          </a:prstGeom>
          <a:noFill/>
        </p:spPr>
        <p:txBody>
          <a:bodyPr wrap="square" anchor="ctr" lIns="0" rIns="0" tIns="0" bIns="0">
            <a:spAutoFit/>
          </a:bodyPr>
          <a:lstStyle/>
          <a:p>
            <a:pPr algn="l"/>
            <a:r>
              <a:rPr sz="1400" b="1" i="0">
                <a:solidFill>
                  <a:srgbClr val="1F2328"/>
                </a:solidFill>
                <a:latin typeface="Apple SD Gothic Neo"/>
                <a:ea typeface="Apple SD Gothic Neo"/>
                <a:cs typeface="Apple SD Gothic Neo"/>
              </a:rPr>
              <a:t>신호 교차로</a:t>
            </a:r>
          </a:p>
        </p:txBody>
      </p:sp>
      <p:sp>
        <p:nvSpPr>
          <p:cNvPr id="39" name="Right Arrow 38"/>
          <p:cNvSpPr/>
          <p:nvPr/>
        </p:nvSpPr>
        <p:spPr>
          <a:xfrm>
            <a:off x="4142232" y="4480560"/>
            <a:ext cx="128016" cy="219456"/>
          </a:xfrm>
          <a:prstGeom prst="rightArrow">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3c1"/>
          <p:cNvSpPr/>
          <p:nvPr/>
        </p:nvSpPr>
        <p:spPr>
          <a:xfrm>
            <a:off x="4343400" y="4261104"/>
            <a:ext cx="3520440" cy="658368"/>
          </a:xfrm>
          <a:prstGeom prst="roundRect">
            <a:avLst>
              <a:gd name="adj" fmla="val 12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26280" y="4261104"/>
            <a:ext cx="3246120" cy="658368"/>
          </a:xfrm>
          <a:prstGeom prst="rect">
            <a:avLst/>
          </a:prstGeom>
          <a:noFill/>
        </p:spPr>
        <p:txBody>
          <a:bodyPr wrap="square" anchor="ctr" lIns="0" rIns="0" tIns="0" bIns="0">
            <a:spAutoFit/>
          </a:bodyPr>
          <a:lstStyle/>
          <a:p>
            <a:pPr algn="l"/>
            <a:r>
              <a:rPr sz="1400" b="0" i="0">
                <a:solidFill>
                  <a:srgbClr val="1F2328"/>
                </a:solidFill>
                <a:latin typeface="Apple SD Gothic Neo"/>
                <a:ea typeface="Apple SD Gothic Neo"/>
                <a:cs typeface="Apple SD Gothic Neo"/>
              </a:rPr>
              <a:t>신호 대기열, 좌회전 차량</a:t>
            </a:r>
          </a:p>
        </p:txBody>
      </p:sp>
      <p:sp>
        <p:nvSpPr>
          <p:cNvPr id="42" name="Right Arrow 41"/>
          <p:cNvSpPr/>
          <p:nvPr/>
        </p:nvSpPr>
        <p:spPr>
          <a:xfrm>
            <a:off x="7936992" y="4480560"/>
            <a:ext cx="128016" cy="219456"/>
          </a:xfrm>
          <a:prstGeom prst="rightArrow">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3c2"/>
          <p:cNvSpPr/>
          <p:nvPr/>
        </p:nvSpPr>
        <p:spPr>
          <a:xfrm>
            <a:off x="8138160" y="4261104"/>
            <a:ext cx="3520440" cy="658368"/>
          </a:xfrm>
          <a:prstGeom prst="roundRect">
            <a:avLst>
              <a:gd name="adj" fmla="val 12000"/>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321040" y="4261104"/>
            <a:ext cx="3246120" cy="658368"/>
          </a:xfrm>
          <a:prstGeom prst="rect">
            <a:avLst/>
          </a:prstGeom>
          <a:noFill/>
        </p:spPr>
        <p:txBody>
          <a:bodyPr wrap="square" anchor="ctr" lIns="0" rIns="0" tIns="0" bIns="0">
            <a:spAutoFit/>
          </a:bodyPr>
          <a:lstStyle/>
          <a:p>
            <a:pPr algn="l"/>
            <a:r>
              <a:rPr sz="1400" b="1" i="0">
                <a:solidFill>
                  <a:srgbClr val="1F2328"/>
                </a:solidFill>
                <a:latin typeface="Apple SD Gothic Neo"/>
                <a:ea typeface="Apple SD Gothic Neo"/>
                <a:cs typeface="Apple SD Gothic Neo"/>
              </a:rPr>
              <a:t>정지·출발, 대기열 뒤 감속</a:t>
            </a:r>
          </a:p>
        </p:txBody>
      </p:sp>
      <p:sp>
        <p:nvSpPr>
          <p:cNvPr id="45" name="segtag_3"/>
          <p:cNvSpPr/>
          <p:nvPr/>
        </p:nvSpPr>
        <p:spPr>
          <a:xfrm>
            <a:off x="685800" y="4416552"/>
            <a:ext cx="621792" cy="347472"/>
          </a:xfrm>
          <a:prstGeom prst="roundRect">
            <a:avLst>
              <a:gd name="adj" fmla="val 30000"/>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800" y="4416552"/>
            <a:ext cx="621792" cy="347472"/>
          </a:xfrm>
          <a:prstGeom prst="rect">
            <a:avLst/>
          </a:prstGeom>
          <a:noFill/>
        </p:spPr>
        <p:txBody>
          <a:bodyPr wrap="square" anchor="ctr" lIns="0" rIns="0" tIns="0" bIns="0">
            <a:spAutoFit/>
          </a:bodyPr>
          <a:lstStyle/>
          <a:p>
            <a:pPr algn="ctr"/>
            <a:r>
              <a:rPr sz="1100" b="1" i="0">
                <a:solidFill>
                  <a:srgbClr val="FFFFFF"/>
                </a:solidFill>
                <a:latin typeface="Apple SD Gothic Neo"/>
                <a:ea typeface="Apple SD Gothic Neo"/>
                <a:cs typeface="Apple SD Gothic Neo"/>
              </a:rPr>
              <a:t>1·4</a:t>
            </a:r>
          </a:p>
        </p:txBody>
      </p:sp>
      <p:sp>
        <p:nvSpPr>
          <p:cNvPr id="47" name="r4c0"/>
          <p:cNvSpPr/>
          <p:nvPr/>
        </p:nvSpPr>
        <p:spPr>
          <a:xfrm>
            <a:off x="548640" y="5047488"/>
            <a:ext cx="3520440" cy="658368"/>
          </a:xfrm>
          <a:prstGeom prst="roundRect">
            <a:avLst>
              <a:gd name="adj" fmla="val 12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417319" y="5047488"/>
            <a:ext cx="2560320" cy="658368"/>
          </a:xfrm>
          <a:prstGeom prst="rect">
            <a:avLst/>
          </a:prstGeom>
          <a:noFill/>
        </p:spPr>
        <p:txBody>
          <a:bodyPr wrap="square" anchor="ctr" lIns="0" rIns="0" tIns="0" bIns="0">
            <a:spAutoFit/>
          </a:bodyPr>
          <a:lstStyle/>
          <a:p>
            <a:pPr algn="l"/>
            <a:r>
              <a:rPr sz="1400" b="1" i="0">
                <a:solidFill>
                  <a:srgbClr val="1F2328"/>
                </a:solidFill>
                <a:latin typeface="Apple SD Gothic Neo"/>
                <a:ea typeface="Apple SD Gothic Neo"/>
                <a:cs typeface="Apple SD Gothic Neo"/>
              </a:rPr>
              <a:t>다중 차선</a:t>
            </a:r>
          </a:p>
        </p:txBody>
      </p:sp>
      <p:sp>
        <p:nvSpPr>
          <p:cNvPr id="49" name="Right Arrow 48"/>
          <p:cNvSpPr/>
          <p:nvPr/>
        </p:nvSpPr>
        <p:spPr>
          <a:xfrm>
            <a:off x="4142232" y="5266944"/>
            <a:ext cx="128016" cy="219456"/>
          </a:xfrm>
          <a:prstGeom prst="rightArrow">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4c1"/>
          <p:cNvSpPr/>
          <p:nvPr/>
        </p:nvSpPr>
        <p:spPr>
          <a:xfrm>
            <a:off x="4343400" y="5047488"/>
            <a:ext cx="3520440" cy="658368"/>
          </a:xfrm>
          <a:prstGeom prst="roundRect">
            <a:avLst>
              <a:gd name="adj" fmla="val 12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26280" y="5047488"/>
            <a:ext cx="3246120" cy="658368"/>
          </a:xfrm>
          <a:prstGeom prst="rect">
            <a:avLst/>
          </a:prstGeom>
          <a:noFill/>
        </p:spPr>
        <p:txBody>
          <a:bodyPr wrap="square" anchor="ctr" lIns="0" rIns="0" tIns="0" bIns="0">
            <a:spAutoFit/>
          </a:bodyPr>
          <a:lstStyle/>
          <a:p>
            <a:pPr algn="l"/>
            <a:r>
              <a:rPr sz="1400" b="0" i="0">
                <a:solidFill>
                  <a:srgbClr val="1F2328"/>
                </a:solidFill>
                <a:latin typeface="Apple SD Gothic Neo"/>
                <a:ea typeface="Apple SD Gothic Neo"/>
                <a:cs typeface="Apple SD Gothic Neo"/>
              </a:rPr>
              <a:t>느린 차량, 끼어드는 차량</a:t>
            </a:r>
          </a:p>
        </p:txBody>
      </p:sp>
      <p:sp>
        <p:nvSpPr>
          <p:cNvPr id="52" name="Right Arrow 51"/>
          <p:cNvSpPr/>
          <p:nvPr/>
        </p:nvSpPr>
        <p:spPr>
          <a:xfrm>
            <a:off x="7936992" y="5266944"/>
            <a:ext cx="128016" cy="219456"/>
          </a:xfrm>
          <a:prstGeom prst="rightArrow">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4c2"/>
          <p:cNvSpPr/>
          <p:nvPr/>
        </p:nvSpPr>
        <p:spPr>
          <a:xfrm>
            <a:off x="8138160" y="5047488"/>
            <a:ext cx="3520440" cy="658368"/>
          </a:xfrm>
          <a:prstGeom prst="roundRect">
            <a:avLst>
              <a:gd name="adj" fmla="val 12000"/>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321040" y="5047488"/>
            <a:ext cx="3246120" cy="658368"/>
          </a:xfrm>
          <a:prstGeom prst="rect">
            <a:avLst/>
          </a:prstGeom>
          <a:noFill/>
        </p:spPr>
        <p:txBody>
          <a:bodyPr wrap="square" anchor="ctr" lIns="0" rIns="0" tIns="0" bIns="0">
            <a:spAutoFit/>
          </a:bodyPr>
          <a:lstStyle/>
          <a:p>
            <a:pPr algn="l"/>
            <a:r>
              <a:rPr sz="1400" b="1" i="0">
                <a:solidFill>
                  <a:srgbClr val="1F2328"/>
                </a:solidFill>
                <a:latin typeface="Apple SD Gothic Neo"/>
                <a:ea typeface="Apple SD Gothic Neo"/>
                <a:cs typeface="Apple SD Gothic Neo"/>
              </a:rPr>
              <a:t>추월과 차간거리 유지</a:t>
            </a:r>
          </a:p>
        </p:txBody>
      </p:sp>
      <p:sp>
        <p:nvSpPr>
          <p:cNvPr id="55" name="segtag_4"/>
          <p:cNvSpPr/>
          <p:nvPr/>
        </p:nvSpPr>
        <p:spPr>
          <a:xfrm>
            <a:off x="685800" y="5202936"/>
            <a:ext cx="621792" cy="347472"/>
          </a:xfrm>
          <a:prstGeom prst="roundRect">
            <a:avLst>
              <a:gd name="adj" fmla="val 30000"/>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85800" y="5202936"/>
            <a:ext cx="621792" cy="347472"/>
          </a:xfrm>
          <a:prstGeom prst="rect">
            <a:avLst/>
          </a:prstGeom>
          <a:noFill/>
        </p:spPr>
        <p:txBody>
          <a:bodyPr wrap="square" anchor="ctr" lIns="0" rIns="0" tIns="0" bIns="0">
            <a:spAutoFit/>
          </a:bodyPr>
          <a:lstStyle/>
          <a:p>
            <a:pPr algn="ctr"/>
            <a:r>
              <a:rPr sz="1100" b="1" i="0">
                <a:solidFill>
                  <a:srgbClr val="FFFFFF"/>
                </a:solidFill>
                <a:latin typeface="Apple SD Gothic Neo"/>
                <a:ea typeface="Apple SD Gothic Neo"/>
                <a:cs typeface="Apple SD Gothic Neo"/>
              </a:rPr>
              <a:t>전체</a:t>
            </a:r>
          </a:p>
        </p:txBody>
      </p:sp>
      <p:sp>
        <p:nvSpPr>
          <p:cNvPr id="57" name="TextBox 56"/>
          <p:cNvSpPr txBox="1"/>
          <p:nvPr/>
        </p:nvSpPr>
        <p:spPr>
          <a:xfrm>
            <a:off x="548640" y="5925312"/>
            <a:ext cx="11064240" cy="548640"/>
          </a:xfrm>
          <a:prstGeom prst="rect">
            <a:avLst/>
          </a:prstGeom>
          <a:noFill/>
        </p:spPr>
        <p:txBody>
          <a:bodyPr wrap="square" anchor="t" lIns="0" rIns="0" tIns="0" bIns="0">
            <a:spAutoFit/>
          </a:bodyPr>
          <a:lstStyle/>
          <a:p>
            <a:pPr algn="l"/>
            <a:r>
              <a:rPr sz="1400" b="1" i="0">
                <a:solidFill>
                  <a:srgbClr val="0B6E4F"/>
                </a:solidFill>
                <a:latin typeface="Apple SD Gothic Neo"/>
                <a:ea typeface="Apple SD Gothic Neo"/>
                <a:cs typeface="Apple SD Gothic Neo"/>
              </a:rPr>
              <a:t>관측에 추가할 정보  </a:t>
            </a:r>
            <a:r>
              <a:rPr sz="1400" b="0" i="0">
                <a:solidFill>
                  <a:srgbClr val="1F2328"/>
                </a:solidFill>
                <a:latin typeface="Apple SD Gothic Neo"/>
                <a:ea typeface="Apple SD Gothic Neo"/>
                <a:cs typeface="Apple SD Gothic Neo"/>
              </a:rPr>
              <a:t>목표 출구까지 남은 거리 · 가야 할 차선 · 신호 상태와 정지선까지 거리</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84048"/>
            <a:ext cx="11064240" cy="685800"/>
          </a:xfrm>
          <a:prstGeom prst="rect">
            <a:avLst/>
          </a:prstGeom>
          <a:noFill/>
        </p:spPr>
        <p:txBody>
          <a:bodyPr wrap="square" anchor="t" lIns="0" rIns="0" tIns="0" bIns="0">
            <a:spAutoFit/>
          </a:bodyPr>
          <a:lstStyle/>
          <a:p>
            <a:pPr algn="l"/>
            <a:r>
              <a:rPr sz="3200" b="1" i="0">
                <a:solidFill>
                  <a:srgbClr val="1F2328"/>
                </a:solidFill>
                <a:latin typeface="Apple SD Gothic Neo"/>
                <a:ea typeface="Apple SD Gothic Neo"/>
                <a:cs typeface="Apple SD Gothic Neo"/>
              </a:rPr>
              <a:t>수집할 데이터</a:t>
            </a:r>
          </a:p>
        </p:txBody>
      </p:sp>
      <p:sp>
        <p:nvSpPr>
          <p:cNvPr id="3" name="subtitle"/>
          <p:cNvSpPr txBox="1"/>
          <p:nvPr/>
        </p:nvSpPr>
        <p:spPr>
          <a:xfrm>
            <a:off x="548640" y="1024128"/>
            <a:ext cx="11064240" cy="365760"/>
          </a:xfrm>
          <a:prstGeom prst="rect">
            <a:avLst/>
          </a:prstGeom>
          <a:noFill/>
        </p:spPr>
        <p:txBody>
          <a:bodyPr wrap="square" anchor="t" lIns="0" rIns="0" tIns="0" bIns="0">
            <a:spAutoFit/>
          </a:bodyPr>
          <a:lstStyle/>
          <a:p>
            <a:pPr algn="l"/>
            <a:r>
              <a:rPr sz="1500" b="0" i="0">
                <a:solidFill>
                  <a:srgbClr val="5B636E"/>
                </a:solidFill>
                <a:latin typeface="Apple SD Gothic Neo"/>
                <a:ea typeface="Apple SD Gothic Neo"/>
                <a:cs typeface="Apple SD Gothic Neo"/>
              </a:rPr>
              <a:t>기본 수집 항목 전부 + 위치·속도 같은 절대 상태 + 경로 정보 추가</a:t>
            </a:r>
          </a:p>
        </p:txBody>
      </p:sp>
      <p:graphicFrame>
        <p:nvGraphicFramePr>
          <p:cNvPr id="4" name="Table 3"/>
          <p:cNvGraphicFramePr>
            <a:graphicFrameLocks noGrp="1"/>
          </p:cNvGraphicFramePr>
          <p:nvPr/>
        </p:nvGraphicFramePr>
        <p:xfrm>
          <a:off x="548640" y="1481328"/>
          <a:ext cx="11064240" cy="4325112"/>
        </p:xfrm>
        <a:graphic>
          <a:graphicData uri="http://schemas.openxmlformats.org/drawingml/2006/table">
            <a:tbl>
              <a:tblPr firstRow="0" bandRow="0">
                <a:tableStyleId>{5C22544A-7EE6-4342-B048-85BDC9FD1C3A}</a:tableStyleId>
              </a:tblPr>
              <a:tblGrid>
                <a:gridCol w="1234440"/>
                <a:gridCol w="3703320"/>
                <a:gridCol w="1920240"/>
                <a:gridCol w="4206240"/>
              </a:tblGrid>
              <a:tr h="393192">
                <a:tc>
                  <a:txBody>
                    <a:bodyPr/>
                    <a:lstStyle/>
                    <a:p>
                      <a:r>
                        <a:rPr sz="1300" b="1" i="0">
                          <a:solidFill>
                            <a:srgbClr val="FFFFFF"/>
                          </a:solidFill>
                          <a:latin typeface="Apple SD Gothic Neo"/>
                          <a:ea typeface="Apple SD Gothic Neo"/>
                          <a:cs typeface="Apple SD Gothic Neo"/>
                        </a:rPr>
                        <a:t>구분</a:t>
                      </a:r>
                    </a:p>
                  </a:txBody>
                  <a:tcPr marL="109728" marR="73152" marT="18288" marB="18288" anchor="ctr">
                    <a:solidFill>
                      <a:srgbClr val="1F2328"/>
                    </a:solidFill>
                  </a:tcPr>
                </a:tc>
                <a:tc>
                  <a:txBody>
                    <a:bodyPr/>
                    <a:lstStyle/>
                    <a:p>
                      <a:r>
                        <a:rPr sz="1300" b="1" i="0">
                          <a:solidFill>
                            <a:srgbClr val="FFFFFF"/>
                          </a:solidFill>
                          <a:latin typeface="Apple SD Gothic Neo"/>
                          <a:ea typeface="Apple SD Gothic Neo"/>
                          <a:cs typeface="Apple SD Gothic Neo"/>
                        </a:rPr>
                        <a:t>컬럼</a:t>
                      </a:r>
                    </a:p>
                  </a:txBody>
                  <a:tcPr marL="109728" marR="73152" marT="18288" marB="18288" anchor="ctr">
                    <a:solidFill>
                      <a:srgbClr val="1F2328"/>
                    </a:solidFill>
                  </a:tcPr>
                </a:tc>
                <a:tc>
                  <a:txBody>
                    <a:bodyPr/>
                    <a:lstStyle/>
                    <a:p>
                      <a:r>
                        <a:rPr sz="1300" b="1" i="0">
                          <a:solidFill>
                            <a:srgbClr val="FFFFFF"/>
                          </a:solidFill>
                          <a:latin typeface="Apple SD Gothic Neo"/>
                          <a:ea typeface="Apple SD Gothic Neo"/>
                          <a:cs typeface="Apple SD Gothic Neo"/>
                        </a:rPr>
                        <a:t>단위</a:t>
                      </a:r>
                    </a:p>
                  </a:txBody>
                  <a:tcPr marL="109728" marR="73152" marT="18288" marB="18288" anchor="ctr">
                    <a:solidFill>
                      <a:srgbClr val="1F2328"/>
                    </a:solidFill>
                  </a:tcPr>
                </a:tc>
                <a:tc>
                  <a:txBody>
                    <a:bodyPr/>
                    <a:lstStyle/>
                    <a:p>
                      <a:r>
                        <a:rPr sz="1300" b="1" i="0">
                          <a:solidFill>
                            <a:srgbClr val="FFFFFF"/>
                          </a:solidFill>
                          <a:latin typeface="Apple SD Gothic Neo"/>
                          <a:ea typeface="Apple SD Gothic Neo"/>
                          <a:cs typeface="Apple SD Gothic Neo"/>
                        </a:rPr>
                        <a:t>의미</a:t>
                      </a:r>
                    </a:p>
                  </a:txBody>
                  <a:tcPr marL="109728" marR="73152" marT="18288" marB="18288" anchor="ctr">
                    <a:solidFill>
                      <a:srgbClr val="1F2328"/>
                    </a:solidFill>
                  </a:tcPr>
                </a:tc>
              </a:tr>
              <a:tr h="393192">
                <a:tc>
                  <a:txBody>
                    <a:bodyPr/>
                    <a:lstStyle/>
                    <a:p>
                      <a:r>
                        <a:rPr sz="1300" b="1" i="0">
                          <a:solidFill>
                            <a:srgbClr val="0B6E4F"/>
                          </a:solidFill>
                          <a:latin typeface="Apple SD Gothic Neo"/>
                          <a:ea typeface="Apple SD Gothic Neo"/>
                          <a:cs typeface="Apple SD Gothic Neo"/>
                        </a:rPr>
                        <a:t>기본</a:t>
                      </a:r>
                    </a:p>
                  </a:txBody>
                  <a:tcPr marL="109728" marR="73152" marT="18288" marB="18288" anchor="ctr">
                    <a:solidFill>
                      <a:srgbClr val="F1F3F5"/>
                    </a:solidFill>
                  </a:tcPr>
                </a:tc>
                <a:tc>
                  <a:txBody>
                    <a:bodyPr/>
                    <a:lstStyle/>
                    <a:p>
                      <a:r>
                        <a:rPr sz="1300" b="1" i="0">
                          <a:solidFill>
                            <a:srgbClr val="1F2328"/>
                          </a:solidFill>
                          <a:latin typeface="Apple SD Gothic Neo"/>
                          <a:ea typeface="Apple SD Gothic Neo"/>
                          <a:cs typeface="Apple SD Gothic Neo"/>
                        </a:rPr>
                        <a:t>episode, t</a:t>
                      </a:r>
                    </a:p>
                  </a:txBody>
                  <a:tcPr marL="109728" marR="73152" marT="18288" marB="18288" anchor="ctr">
                    <a:solidFill>
                      <a:srgbClr val="F1F3F5"/>
                    </a:solidFill>
                  </a:tcPr>
                </a:tc>
                <a:tc>
                  <a:txBody>
                    <a:bodyPr/>
                    <a:lstStyle/>
                    <a:p>
                      <a:r>
                        <a:rPr sz="1300" b="0" i="0">
                          <a:solidFill>
                            <a:srgbClr val="1F2328"/>
                          </a:solidFill>
                          <a:latin typeface="Apple SD Gothic Neo"/>
                          <a:ea typeface="Apple SD Gothic Neo"/>
                          <a:cs typeface="Apple SD Gothic Neo"/>
                        </a:rPr>
                        <a:t>회, 스텝(0.5초)</a:t>
                      </a:r>
                    </a:p>
                  </a:txBody>
                  <a:tcPr marL="109728" marR="73152" marT="18288" marB="18288" anchor="ctr">
                    <a:solidFill>
                      <a:srgbClr val="F1F3F5"/>
                    </a:solidFill>
                  </a:tcPr>
                </a:tc>
                <a:tc>
                  <a:txBody>
                    <a:bodyPr/>
                    <a:lstStyle/>
                    <a:p>
                      <a:r>
                        <a:rPr sz="1300" b="0" i="0">
                          <a:solidFill>
                            <a:srgbClr val="1F2328"/>
                          </a:solidFill>
                          <a:latin typeface="Apple SD Gothic Neo"/>
                          <a:ea typeface="Apple SD Gothic Neo"/>
                          <a:cs typeface="Apple SD Gothic Neo"/>
                        </a:rPr>
                        <a:t>에피소드 번호와 시간 순서</a:t>
                      </a:r>
                    </a:p>
                  </a:txBody>
                  <a:tcPr marL="109728" marR="73152" marT="18288" marB="18288" anchor="ctr">
                    <a:solidFill>
                      <a:srgbClr val="F1F3F5"/>
                    </a:solidFill>
                  </a:tcPr>
                </a:tc>
              </a:tr>
              <a:tr h="393192">
                <a:tc>
                  <a:txBody>
                    <a:bodyPr/>
                    <a:lstStyle/>
                    <a:p>
                      <a:r>
                        <a:rPr sz="1300" b="1" i="0">
                          <a:solidFill>
                            <a:srgbClr val="0B6E4F"/>
                          </a:solidFill>
                          <a:latin typeface="Apple SD Gothic Neo"/>
                          <a:ea typeface="Apple SD Gothic Neo"/>
                          <a:cs typeface="Apple SD Gothic Neo"/>
                        </a:rPr>
                        <a:t>기본</a:t>
                      </a:r>
                    </a:p>
                  </a:txBody>
                  <a:tcPr marL="109728" marR="73152" marT="18288" marB="18288" anchor="ctr">
                    <a:solidFill>
                      <a:srgbClr val="F1F3F5"/>
                    </a:solidFill>
                  </a:tcPr>
                </a:tc>
                <a:tc>
                  <a:txBody>
                    <a:bodyPr/>
                    <a:lstStyle/>
                    <a:p>
                      <a:r>
                        <a:rPr sz="1300" b="1" i="0">
                          <a:solidFill>
                            <a:srgbClr val="1F2328"/>
                          </a:solidFill>
                          <a:latin typeface="Apple SD Gothic Neo"/>
                          <a:ea typeface="Apple SD Gothic Neo"/>
                          <a:cs typeface="Apple SD Gothic Neo"/>
                        </a:rPr>
                        <a:t>observation, next_observation</a:t>
                      </a:r>
                    </a:p>
                  </a:txBody>
                  <a:tcPr marL="109728" marR="73152" marT="18288" marB="18288" anchor="ctr">
                    <a:solidFill>
                      <a:srgbClr val="F1F3F5"/>
                    </a:solidFill>
                  </a:tcPr>
                </a:tc>
                <a:tc>
                  <a:txBody>
                    <a:bodyPr/>
                    <a:lstStyle/>
                    <a:p>
                      <a:r>
                        <a:rPr sz="1300" b="0" i="0">
                          <a:solidFill>
                            <a:srgbClr val="1F2328"/>
                          </a:solidFill>
                          <a:latin typeface="Apple SD Gothic Neo"/>
                          <a:ea typeface="Apple SD Gothic Neo"/>
                          <a:cs typeface="Apple SD Gothic Neo"/>
                        </a:rPr>
                        <a:t>31차원, -1~1</a:t>
                      </a:r>
                    </a:p>
                  </a:txBody>
                  <a:tcPr marL="109728" marR="73152" marT="18288" marB="18288" anchor="ctr">
                    <a:solidFill>
                      <a:srgbClr val="F1F3F5"/>
                    </a:solidFill>
                  </a:tcPr>
                </a:tc>
                <a:tc>
                  <a:txBody>
                    <a:bodyPr/>
                    <a:lstStyle/>
                    <a:p>
                      <a:r>
                        <a:rPr sz="1300" b="0" i="0">
                          <a:solidFill>
                            <a:srgbClr val="1F2328"/>
                          </a:solidFill>
                          <a:latin typeface="Apple SD Gothic Neo"/>
                          <a:ea typeface="Apple SD Gothic Neo"/>
                          <a:cs typeface="Apple SD Gothic Neo"/>
                        </a:rPr>
                        <a:t>AV가 보는 주변 5개 차선 정보</a:t>
                      </a:r>
                    </a:p>
                  </a:txBody>
                  <a:tcPr marL="109728" marR="73152" marT="18288" marB="18288" anchor="ctr">
                    <a:solidFill>
                      <a:srgbClr val="F1F3F5"/>
                    </a:solidFill>
                  </a:tcPr>
                </a:tc>
              </a:tr>
              <a:tr h="393192">
                <a:tc>
                  <a:txBody>
                    <a:bodyPr/>
                    <a:lstStyle/>
                    <a:p>
                      <a:r>
                        <a:rPr sz="1300" b="1" i="0">
                          <a:solidFill>
                            <a:srgbClr val="0B6E4F"/>
                          </a:solidFill>
                          <a:latin typeface="Apple SD Gothic Neo"/>
                          <a:ea typeface="Apple SD Gothic Neo"/>
                          <a:cs typeface="Apple SD Gothic Neo"/>
                        </a:rPr>
                        <a:t>기본</a:t>
                      </a:r>
                    </a:p>
                  </a:txBody>
                  <a:tcPr marL="109728" marR="73152" marT="18288" marB="18288" anchor="ctr">
                    <a:solidFill>
                      <a:srgbClr val="F1F3F5"/>
                    </a:solidFill>
                  </a:tcPr>
                </a:tc>
                <a:tc>
                  <a:txBody>
                    <a:bodyPr/>
                    <a:lstStyle/>
                    <a:p>
                      <a:r>
                        <a:rPr sz="1300" b="1" i="0">
                          <a:solidFill>
                            <a:srgbClr val="1F2328"/>
                          </a:solidFill>
                          <a:latin typeface="Apple SD Gothic Neo"/>
                          <a:ea typeface="Apple SD Gothic Neo"/>
                          <a:cs typeface="Apple SD Gothic Neo"/>
                        </a:rPr>
                        <a:t>action_raw</a:t>
                      </a:r>
                    </a:p>
                  </a:txBody>
                  <a:tcPr marL="109728" marR="73152" marT="18288" marB="18288" anchor="ctr">
                    <a:solidFill>
                      <a:srgbClr val="F1F3F5"/>
                    </a:solidFill>
                  </a:tcPr>
                </a:tc>
                <a:tc>
                  <a:txBody>
                    <a:bodyPr/>
                    <a:lstStyle/>
                    <a:p>
                      <a:r>
                        <a:rPr sz="1300" b="0" i="0">
                          <a:solidFill>
                            <a:srgbClr val="1F2328"/>
                          </a:solidFill>
                          <a:latin typeface="Apple SD Gothic Neo"/>
                          <a:ea typeface="Apple SD Gothic Neo"/>
                          <a:cs typeface="Apple SD Gothic Neo"/>
                        </a:rPr>
                        <a:t>2차원, -1~1</a:t>
                      </a:r>
                    </a:p>
                  </a:txBody>
                  <a:tcPr marL="109728" marR="73152" marT="18288" marB="18288" anchor="ctr">
                    <a:solidFill>
                      <a:srgbClr val="F1F3F5"/>
                    </a:solidFill>
                  </a:tcPr>
                </a:tc>
                <a:tc>
                  <a:txBody>
                    <a:bodyPr/>
                    <a:lstStyle/>
                    <a:p>
                      <a:r>
                        <a:rPr sz="1300" b="0" i="0">
                          <a:solidFill>
                            <a:srgbClr val="1F2328"/>
                          </a:solidFill>
                          <a:latin typeface="Apple SD Gothic Neo"/>
                          <a:ea typeface="Apple SD Gothic Neo"/>
                          <a:cs typeface="Apple SD Gothic Neo"/>
                        </a:rPr>
                        <a:t>가감속, 차선변경 명령</a:t>
                      </a:r>
                    </a:p>
                  </a:txBody>
                  <a:tcPr marL="109728" marR="73152" marT="18288" marB="18288" anchor="ctr">
                    <a:solidFill>
                      <a:srgbClr val="F1F3F5"/>
                    </a:solidFill>
                  </a:tcPr>
                </a:tc>
              </a:tr>
              <a:tr h="393192">
                <a:tc>
                  <a:txBody>
                    <a:bodyPr/>
                    <a:lstStyle/>
                    <a:p>
                      <a:r>
                        <a:rPr sz="1300" b="1" i="0">
                          <a:solidFill>
                            <a:srgbClr val="0B6E4F"/>
                          </a:solidFill>
                          <a:latin typeface="Apple SD Gothic Neo"/>
                          <a:ea typeface="Apple SD Gothic Neo"/>
                          <a:cs typeface="Apple SD Gothic Neo"/>
                        </a:rPr>
                        <a:t>기본</a:t>
                      </a:r>
                    </a:p>
                  </a:txBody>
                  <a:tcPr marL="109728" marR="73152" marT="18288" marB="18288" anchor="ctr">
                    <a:solidFill>
                      <a:srgbClr val="F1F3F5"/>
                    </a:solidFill>
                  </a:tcPr>
                </a:tc>
                <a:tc>
                  <a:txBody>
                    <a:bodyPr/>
                    <a:lstStyle/>
                    <a:p>
                      <a:r>
                        <a:rPr sz="1300" b="1" i="0">
                          <a:solidFill>
                            <a:srgbClr val="1F2328"/>
                          </a:solidFill>
                          <a:latin typeface="Apple SD Gothic Neo"/>
                          <a:ea typeface="Apple SD Gothic Neo"/>
                          <a:cs typeface="Apple SD Gothic Neo"/>
                        </a:rPr>
                        <a:t>reward, terminated, truncated</a:t>
                      </a:r>
                    </a:p>
                  </a:txBody>
                  <a:tcPr marL="109728" marR="73152" marT="18288" marB="18288" anchor="ctr">
                    <a:solidFill>
                      <a:srgbClr val="F1F3F5"/>
                    </a:solidFill>
                  </a:tcPr>
                </a:tc>
                <a:tc>
                  <a:txBody>
                    <a:bodyPr/>
                    <a:lstStyle/>
                    <a:p>
                      <a:r>
                        <a:rPr sz="1300" b="0" i="0">
                          <a:solidFill>
                            <a:srgbClr val="1F2328"/>
                          </a:solidFill>
                          <a:latin typeface="Apple SD Gothic Neo"/>
                          <a:ea typeface="Apple SD Gothic Neo"/>
                          <a:cs typeface="Apple SD Gothic Neo"/>
                        </a:rPr>
                        <a:t>-</a:t>
                      </a:r>
                    </a:p>
                  </a:txBody>
                  <a:tcPr marL="109728" marR="73152" marT="18288" marB="18288" anchor="ctr">
                    <a:solidFill>
                      <a:srgbClr val="F1F3F5"/>
                    </a:solidFill>
                  </a:tcPr>
                </a:tc>
                <a:tc>
                  <a:txBody>
                    <a:bodyPr/>
                    <a:lstStyle/>
                    <a:p>
                      <a:r>
                        <a:rPr sz="1300" b="0" i="0">
                          <a:solidFill>
                            <a:srgbClr val="1F2328"/>
                          </a:solidFill>
                          <a:latin typeface="Apple SD Gothic Neo"/>
                          <a:ea typeface="Apple SD Gothic Neo"/>
                          <a:cs typeface="Apple SD Gothic Neo"/>
                        </a:rPr>
                        <a:t>보상, 충돌·도착 종료, 시간초과</a:t>
                      </a:r>
                    </a:p>
                  </a:txBody>
                  <a:tcPr marL="109728" marR="73152" marT="18288" marB="18288" anchor="ctr">
                    <a:solidFill>
                      <a:srgbClr val="F1F3F5"/>
                    </a:solidFill>
                  </a:tcPr>
                </a:tc>
              </a:tr>
              <a:tr h="393192">
                <a:tc>
                  <a:txBody>
                    <a:bodyPr/>
                    <a:lstStyle/>
                    <a:p>
                      <a:r>
                        <a:rPr sz="1300" b="1" i="0">
                          <a:solidFill>
                            <a:srgbClr val="0B6E4F"/>
                          </a:solidFill>
                          <a:latin typeface="Apple SD Gothic Neo"/>
                          <a:ea typeface="Apple SD Gothic Neo"/>
                          <a:cs typeface="Apple SD Gothic Neo"/>
                        </a:rPr>
                        <a:t>절대 상태</a:t>
                      </a:r>
                    </a:p>
                  </a:txBody>
                  <a:tcPr marL="109728" marR="73152" marT="18288" marB="18288" anchor="ctr">
                    <a:solidFill>
                      <a:srgbClr val="E3F1EA"/>
                    </a:solidFill>
                  </a:tcPr>
                </a:tc>
                <a:tc>
                  <a:txBody>
                    <a:bodyPr/>
                    <a:lstStyle/>
                    <a:p>
                      <a:r>
                        <a:rPr sz="1300" b="1" i="0">
                          <a:solidFill>
                            <a:srgbClr val="1F2328"/>
                          </a:solidFill>
                          <a:latin typeface="Apple SD Gothic Neo"/>
                          <a:ea typeface="Apple SD Gothic Neo"/>
                          <a:cs typeface="Apple SD Gothic Neo"/>
                        </a:rPr>
                        <a:t>ego_x, ego_y</a:t>
                      </a:r>
                    </a:p>
                  </a:txBody>
                  <a:tcPr marL="109728" marR="73152" marT="18288" marB="18288" anchor="ctr">
                    <a:solidFill>
                      <a:srgbClr val="E3F1EA"/>
                    </a:solidFill>
                  </a:tcPr>
                </a:tc>
                <a:tc>
                  <a:txBody>
                    <a:bodyPr/>
                    <a:lstStyle/>
                    <a:p>
                      <a:r>
                        <a:rPr sz="1300" b="0" i="0">
                          <a:solidFill>
                            <a:srgbClr val="1F2328"/>
                          </a:solidFill>
                          <a:latin typeface="Apple SD Gothic Neo"/>
                          <a:ea typeface="Apple SD Gothic Neo"/>
                          <a:cs typeface="Apple SD Gothic Neo"/>
                        </a:rPr>
                        <a:t>m</a:t>
                      </a:r>
                    </a:p>
                  </a:txBody>
                  <a:tcPr marL="109728" marR="73152" marT="18288" marB="18288" anchor="ctr">
                    <a:solidFill>
                      <a:srgbClr val="E3F1EA"/>
                    </a:solidFill>
                  </a:tcPr>
                </a:tc>
                <a:tc>
                  <a:txBody>
                    <a:bodyPr/>
                    <a:lstStyle/>
                    <a:p>
                      <a:r>
                        <a:rPr sz="1300" b="0" i="0">
                          <a:solidFill>
                            <a:srgbClr val="1F2328"/>
                          </a:solidFill>
                          <a:latin typeface="Apple SD Gothic Neo"/>
                          <a:ea typeface="Apple SD Gothic Neo"/>
                          <a:cs typeface="Apple SD Gothic Neo"/>
                        </a:rPr>
                        <a:t>지도 좌표 위 AV 위치</a:t>
                      </a:r>
                    </a:p>
                  </a:txBody>
                  <a:tcPr marL="109728" marR="73152" marT="18288" marB="18288" anchor="ctr">
                    <a:solidFill>
                      <a:srgbClr val="E3F1EA"/>
                    </a:solidFill>
                  </a:tcPr>
                </a:tc>
              </a:tr>
              <a:tr h="393192">
                <a:tc>
                  <a:txBody>
                    <a:bodyPr/>
                    <a:lstStyle/>
                    <a:p>
                      <a:r>
                        <a:rPr sz="1300" b="1" i="0">
                          <a:solidFill>
                            <a:srgbClr val="0B6E4F"/>
                          </a:solidFill>
                          <a:latin typeface="Apple SD Gothic Neo"/>
                          <a:ea typeface="Apple SD Gothic Neo"/>
                          <a:cs typeface="Apple SD Gothic Neo"/>
                        </a:rPr>
                        <a:t>절대 상태</a:t>
                      </a:r>
                    </a:p>
                  </a:txBody>
                  <a:tcPr marL="109728" marR="73152" marT="18288" marB="18288" anchor="ctr">
                    <a:solidFill>
                      <a:srgbClr val="E3F1EA"/>
                    </a:solidFill>
                  </a:tcPr>
                </a:tc>
                <a:tc>
                  <a:txBody>
                    <a:bodyPr/>
                    <a:lstStyle/>
                    <a:p>
                      <a:r>
                        <a:rPr sz="1300" b="1" i="0">
                          <a:solidFill>
                            <a:srgbClr val="1F2328"/>
                          </a:solidFill>
                          <a:latin typeface="Apple SD Gothic Neo"/>
                          <a:ea typeface="Apple SD Gothic Neo"/>
                          <a:cs typeface="Apple SD Gothic Neo"/>
                        </a:rPr>
                        <a:t>ego_speed, ego_lane, ego_road_id</a:t>
                      </a:r>
                    </a:p>
                  </a:txBody>
                  <a:tcPr marL="109728" marR="73152" marT="18288" marB="18288" anchor="ctr">
                    <a:solidFill>
                      <a:srgbClr val="E3F1EA"/>
                    </a:solidFill>
                  </a:tcPr>
                </a:tc>
                <a:tc>
                  <a:txBody>
                    <a:bodyPr/>
                    <a:lstStyle/>
                    <a:p>
                      <a:r>
                        <a:rPr sz="1300" b="0" i="0">
                          <a:solidFill>
                            <a:srgbClr val="1F2328"/>
                          </a:solidFill>
                          <a:latin typeface="Apple SD Gothic Neo"/>
                          <a:ea typeface="Apple SD Gothic Neo"/>
                          <a:cs typeface="Apple SD Gothic Neo"/>
                        </a:rPr>
                        <a:t>m/s, 번호, ID</a:t>
                      </a:r>
                    </a:p>
                  </a:txBody>
                  <a:tcPr marL="109728" marR="73152" marT="18288" marB="18288" anchor="ctr">
                    <a:solidFill>
                      <a:srgbClr val="E3F1EA"/>
                    </a:solidFill>
                  </a:tcPr>
                </a:tc>
                <a:tc>
                  <a:txBody>
                    <a:bodyPr/>
                    <a:lstStyle/>
                    <a:p>
                      <a:r>
                        <a:rPr sz="1300" b="0" i="0">
                          <a:solidFill>
                            <a:srgbClr val="1F2328"/>
                          </a:solidFill>
                          <a:latin typeface="Apple SD Gothic Neo"/>
                          <a:ea typeface="Apple SD Gothic Neo"/>
                          <a:cs typeface="Apple SD Gothic Neo"/>
                        </a:rPr>
                        <a:t>AV 속도, 차선, 도로 구간</a:t>
                      </a:r>
                    </a:p>
                  </a:txBody>
                  <a:tcPr marL="109728" marR="73152" marT="18288" marB="18288" anchor="ctr">
                    <a:solidFill>
                      <a:srgbClr val="E3F1EA"/>
                    </a:solidFill>
                  </a:tcPr>
                </a:tc>
              </a:tr>
              <a:tr h="393192">
                <a:tc>
                  <a:txBody>
                    <a:bodyPr/>
                    <a:lstStyle/>
                    <a:p>
                      <a:r>
                        <a:rPr sz="1300" b="1" i="0">
                          <a:solidFill>
                            <a:srgbClr val="0B6E4F"/>
                          </a:solidFill>
                          <a:latin typeface="Apple SD Gothic Neo"/>
                          <a:ea typeface="Apple SD Gothic Neo"/>
                          <a:cs typeface="Apple SD Gothic Neo"/>
                        </a:rPr>
                        <a:t>절대 상태</a:t>
                      </a:r>
                    </a:p>
                  </a:txBody>
                  <a:tcPr marL="109728" marR="73152" marT="18288" marB="18288" anchor="ctr">
                    <a:solidFill>
                      <a:srgbClr val="E3F1EA"/>
                    </a:solidFill>
                  </a:tcPr>
                </a:tc>
                <a:tc>
                  <a:txBody>
                    <a:bodyPr/>
                    <a:lstStyle/>
                    <a:p>
                      <a:r>
                        <a:rPr sz="1300" b="1" i="0">
                          <a:solidFill>
                            <a:srgbClr val="1F2328"/>
                          </a:solidFill>
                          <a:latin typeface="Apple SD Gothic Neo"/>
                          <a:ea typeface="Apple SD Gothic Neo"/>
                          <a:cs typeface="Apple SD Gothic Neo"/>
                        </a:rPr>
                        <a:t>vehicles</a:t>
                      </a:r>
                    </a:p>
                  </a:txBody>
                  <a:tcPr marL="109728" marR="73152" marT="18288" marB="18288" anchor="ctr">
                    <a:solidFill>
                      <a:srgbClr val="E3F1EA"/>
                    </a:solidFill>
                  </a:tcPr>
                </a:tc>
                <a:tc>
                  <a:txBody>
                    <a:bodyPr/>
                    <a:lstStyle/>
                    <a:p>
                      <a:r>
                        <a:rPr sz="1300" b="0" i="0">
                          <a:solidFill>
                            <a:srgbClr val="1F2328"/>
                          </a:solidFill>
                          <a:latin typeface="Apple SD Gothic Neo"/>
                          <a:ea typeface="Apple SD Gothic Neo"/>
                          <a:cs typeface="Apple SD Gothic Neo"/>
                        </a:rPr>
                        <a:t>m, m/s</a:t>
                      </a:r>
                    </a:p>
                  </a:txBody>
                  <a:tcPr marL="109728" marR="73152" marT="18288" marB="18288" anchor="ctr">
                    <a:solidFill>
                      <a:srgbClr val="E3F1EA"/>
                    </a:solidFill>
                  </a:tcPr>
                </a:tc>
                <a:tc>
                  <a:txBody>
                    <a:bodyPr/>
                    <a:lstStyle/>
                    <a:p>
                      <a:r>
                        <a:rPr sz="1300" b="0" i="0">
                          <a:solidFill>
                            <a:srgbClr val="1F2328"/>
                          </a:solidFill>
                          <a:latin typeface="Apple SD Gothic Neo"/>
                          <a:ea typeface="Apple SD Gothic Neo"/>
                          <a:cs typeface="Apple SD Gothic Neo"/>
                        </a:rPr>
                        <a:t>모든 차량의 위치·속도·차선</a:t>
                      </a:r>
                    </a:p>
                  </a:txBody>
                  <a:tcPr marL="109728" marR="73152" marT="18288" marB="18288" anchor="ctr">
                    <a:solidFill>
                      <a:srgbClr val="E3F1EA"/>
                    </a:solidFill>
                  </a:tcPr>
                </a:tc>
              </a:tr>
              <a:tr h="393192">
                <a:tc>
                  <a:txBody>
                    <a:bodyPr/>
                    <a:lstStyle/>
                    <a:p>
                      <a:r>
                        <a:rPr sz="1300" b="1" i="0">
                          <a:solidFill>
                            <a:srgbClr val="0B6E4F"/>
                          </a:solidFill>
                          <a:latin typeface="Apple SD Gothic Neo"/>
                          <a:ea typeface="Apple SD Gothic Neo"/>
                          <a:cs typeface="Apple SD Gothic Neo"/>
                        </a:rPr>
                        <a:t>추가 제안</a:t>
                      </a:r>
                    </a:p>
                  </a:txBody>
                  <a:tcPr marL="109728" marR="73152" marT="18288" marB="18288" anchor="ctr">
                    <a:solidFill>
                      <a:srgbClr val="FFF4D6"/>
                    </a:solidFill>
                  </a:tcPr>
                </a:tc>
                <a:tc>
                  <a:txBody>
                    <a:bodyPr/>
                    <a:lstStyle/>
                    <a:p>
                      <a:r>
                        <a:rPr sz="1300" b="1" i="0">
                          <a:solidFill>
                            <a:srgbClr val="1F2328"/>
                          </a:solidFill>
                          <a:latin typeface="Apple SD Gothic Neo"/>
                          <a:ea typeface="Apple SD Gothic Neo"/>
                          <a:cs typeface="Apple SD Gothic Neo"/>
                        </a:rPr>
                        <a:t>segment_id, route_progress</a:t>
                      </a:r>
                    </a:p>
                  </a:txBody>
                  <a:tcPr marL="109728" marR="73152" marT="18288" marB="18288" anchor="ctr">
                    <a:solidFill>
                      <a:srgbClr val="FFF4D6"/>
                    </a:solidFill>
                  </a:tcPr>
                </a:tc>
                <a:tc>
                  <a:txBody>
                    <a:bodyPr/>
                    <a:lstStyle/>
                    <a:p>
                      <a:r>
                        <a:rPr sz="1300" b="0" i="0">
                          <a:solidFill>
                            <a:srgbClr val="1F2328"/>
                          </a:solidFill>
                          <a:latin typeface="Apple SD Gothic Neo"/>
                          <a:ea typeface="Apple SD Gothic Neo"/>
                          <a:cs typeface="Apple SD Gothic Neo"/>
                        </a:rPr>
                        <a:t>1~4, m</a:t>
                      </a:r>
                    </a:p>
                  </a:txBody>
                  <a:tcPr marL="109728" marR="73152" marT="18288" marB="18288" anchor="ctr">
                    <a:solidFill>
                      <a:srgbClr val="FFF4D6"/>
                    </a:solidFill>
                  </a:tcPr>
                </a:tc>
                <a:tc>
                  <a:txBody>
                    <a:bodyPr/>
                    <a:lstStyle/>
                    <a:p>
                      <a:r>
                        <a:rPr sz="1300" b="0" i="0">
                          <a:solidFill>
                            <a:srgbClr val="1F2328"/>
                          </a:solidFill>
                          <a:latin typeface="Apple SD Gothic Neo"/>
                          <a:ea typeface="Apple SD Gothic Neo"/>
                          <a:cs typeface="Apple SD Gothic Neo"/>
                        </a:rPr>
                        <a:t>구간 번호, 경로상 진행 거리</a:t>
                      </a:r>
                    </a:p>
                  </a:txBody>
                  <a:tcPr marL="109728" marR="73152" marT="18288" marB="18288" anchor="ctr">
                    <a:solidFill>
                      <a:srgbClr val="FFF4D6"/>
                    </a:solidFill>
                  </a:tcPr>
                </a:tc>
              </a:tr>
              <a:tr h="393192">
                <a:tc>
                  <a:txBody>
                    <a:bodyPr/>
                    <a:lstStyle/>
                    <a:p>
                      <a:r>
                        <a:rPr sz="1300" b="1" i="0">
                          <a:solidFill>
                            <a:srgbClr val="0B6E4F"/>
                          </a:solidFill>
                          <a:latin typeface="Apple SD Gothic Neo"/>
                          <a:ea typeface="Apple SD Gothic Neo"/>
                          <a:cs typeface="Apple SD Gothic Neo"/>
                        </a:rPr>
                        <a:t>추가 제안</a:t>
                      </a:r>
                    </a:p>
                  </a:txBody>
                  <a:tcPr marL="109728" marR="73152" marT="18288" marB="18288" anchor="ctr">
                    <a:solidFill>
                      <a:srgbClr val="FFF4D6"/>
                    </a:solidFill>
                  </a:tcPr>
                </a:tc>
                <a:tc>
                  <a:txBody>
                    <a:bodyPr/>
                    <a:lstStyle/>
                    <a:p>
                      <a:r>
                        <a:rPr sz="1300" b="1" i="0">
                          <a:solidFill>
                            <a:srgbClr val="1F2328"/>
                          </a:solidFill>
                          <a:latin typeface="Apple SD Gothic Neo"/>
                          <a:ea typeface="Apple SD Gothic Neo"/>
                          <a:cs typeface="Apple SD Gothic Neo"/>
                        </a:rPr>
                        <a:t>dist_to_exit, target_lane_offset</a:t>
                      </a:r>
                    </a:p>
                  </a:txBody>
                  <a:tcPr marL="109728" marR="73152" marT="18288" marB="18288" anchor="ctr">
                    <a:solidFill>
                      <a:srgbClr val="FFF4D6"/>
                    </a:solidFill>
                  </a:tcPr>
                </a:tc>
                <a:tc>
                  <a:txBody>
                    <a:bodyPr/>
                    <a:lstStyle/>
                    <a:p>
                      <a:r>
                        <a:rPr sz="1300" b="0" i="0">
                          <a:solidFill>
                            <a:srgbClr val="1F2328"/>
                          </a:solidFill>
                          <a:latin typeface="Apple SD Gothic Neo"/>
                          <a:ea typeface="Apple SD Gothic Neo"/>
                          <a:cs typeface="Apple SD Gothic Neo"/>
                        </a:rPr>
                        <a:t>m, 차선 수</a:t>
                      </a:r>
                    </a:p>
                  </a:txBody>
                  <a:tcPr marL="109728" marR="73152" marT="18288" marB="18288" anchor="ctr">
                    <a:solidFill>
                      <a:srgbClr val="FFF4D6"/>
                    </a:solidFill>
                  </a:tcPr>
                </a:tc>
                <a:tc>
                  <a:txBody>
                    <a:bodyPr/>
                    <a:lstStyle/>
                    <a:p>
                      <a:r>
                        <a:rPr sz="1300" b="0" i="0">
                          <a:solidFill>
                            <a:srgbClr val="1F2328"/>
                          </a:solidFill>
                          <a:latin typeface="Apple SD Gothic Neo"/>
                          <a:ea typeface="Apple SD Gothic Neo"/>
                          <a:cs typeface="Apple SD Gothic Neo"/>
                        </a:rPr>
                        <a:t>출구까지 거리, 목표 차선까지 차이</a:t>
                      </a:r>
                    </a:p>
                  </a:txBody>
                  <a:tcPr marL="109728" marR="73152" marT="18288" marB="18288" anchor="ctr">
                    <a:solidFill>
                      <a:srgbClr val="FFF4D6"/>
                    </a:solidFill>
                  </a:tcPr>
                </a:tc>
              </a:tr>
              <a:tr h="393192">
                <a:tc>
                  <a:txBody>
                    <a:bodyPr/>
                    <a:lstStyle/>
                    <a:p>
                      <a:r>
                        <a:rPr sz="1300" b="1" i="0">
                          <a:solidFill>
                            <a:srgbClr val="0B6E4F"/>
                          </a:solidFill>
                          <a:latin typeface="Apple SD Gothic Neo"/>
                          <a:ea typeface="Apple SD Gothic Neo"/>
                          <a:cs typeface="Apple SD Gothic Neo"/>
                        </a:rPr>
                        <a:t>추가 제안</a:t>
                      </a:r>
                    </a:p>
                  </a:txBody>
                  <a:tcPr marL="109728" marR="73152" marT="18288" marB="18288" anchor="ctr">
                    <a:solidFill>
                      <a:srgbClr val="FFF4D6"/>
                    </a:solidFill>
                  </a:tcPr>
                </a:tc>
                <a:tc>
                  <a:txBody>
                    <a:bodyPr/>
                    <a:lstStyle/>
                    <a:p>
                      <a:r>
                        <a:rPr sz="1300" b="1" i="0">
                          <a:solidFill>
                            <a:srgbClr val="1F2328"/>
                          </a:solidFill>
                          <a:latin typeface="Apple SD Gothic Neo"/>
                          <a:ea typeface="Apple SD Gothic Neo"/>
                          <a:cs typeface="Apple SD Gothic Neo"/>
                        </a:rPr>
                        <a:t>tls_state, dist_to_stopline</a:t>
                      </a:r>
                    </a:p>
                  </a:txBody>
                  <a:tcPr marL="109728" marR="73152" marT="18288" marB="18288" anchor="ctr">
                    <a:solidFill>
                      <a:srgbClr val="FFF4D6"/>
                    </a:solidFill>
                  </a:tcPr>
                </a:tc>
                <a:tc>
                  <a:txBody>
                    <a:bodyPr/>
                    <a:lstStyle/>
                    <a:p>
                      <a:r>
                        <a:rPr sz="1300" b="0" i="0">
                          <a:solidFill>
                            <a:srgbClr val="1F2328"/>
                          </a:solidFill>
                          <a:latin typeface="Apple SD Gothic Neo"/>
                          <a:ea typeface="Apple SD Gothic Neo"/>
                          <a:cs typeface="Apple SD Gothic Neo"/>
                        </a:rPr>
                        <a:t>적·황·녹, m</a:t>
                      </a:r>
                    </a:p>
                  </a:txBody>
                  <a:tcPr marL="109728" marR="73152" marT="18288" marB="18288" anchor="ctr">
                    <a:solidFill>
                      <a:srgbClr val="FFF4D6"/>
                    </a:solidFill>
                  </a:tcPr>
                </a:tc>
                <a:tc>
                  <a:txBody>
                    <a:bodyPr/>
                    <a:lstStyle/>
                    <a:p>
                      <a:r>
                        <a:rPr sz="1300" b="0" i="0">
                          <a:solidFill>
                            <a:srgbClr val="1F2328"/>
                          </a:solidFill>
                          <a:latin typeface="Apple SD Gothic Neo"/>
                          <a:ea typeface="Apple SD Gothic Neo"/>
                          <a:cs typeface="Apple SD Gothic Neo"/>
                        </a:rPr>
                        <a:t>신호 상태, 정지선까지 거리</a:t>
                      </a:r>
                    </a:p>
                  </a:txBody>
                  <a:tcPr marL="109728" marR="73152" marT="18288" marB="18288" anchor="ctr">
                    <a:solidFill>
                      <a:srgbClr val="FFF4D6"/>
                    </a:solidFill>
                  </a:tcPr>
                </a:tc>
              </a:tr>
            </a:tbl>
          </a:graphicData>
        </a:graphic>
      </p:graphicFrame>
      <p:sp>
        <p:nvSpPr>
          <p:cNvPr id="5" name="TextBox 4"/>
          <p:cNvSpPr txBox="1"/>
          <p:nvPr/>
        </p:nvSpPr>
        <p:spPr>
          <a:xfrm>
            <a:off x="548640" y="5989320"/>
            <a:ext cx="11064240" cy="457200"/>
          </a:xfrm>
          <a:prstGeom prst="rect">
            <a:avLst/>
          </a:prstGeom>
          <a:noFill/>
        </p:spPr>
        <p:txBody>
          <a:bodyPr wrap="square" anchor="t" lIns="0" rIns="0" tIns="0" bIns="0">
            <a:spAutoFit/>
          </a:bodyPr>
          <a:lstStyle/>
          <a:p>
            <a:pPr algn="l"/>
            <a:r>
              <a:rPr sz="1400" b="1" i="0">
                <a:solidFill>
                  <a:srgbClr val="0B6E4F"/>
                </a:solidFill>
                <a:latin typeface="Apple SD Gothic Neo"/>
                <a:ea typeface="Apple SD Gothic Neo"/>
                <a:cs typeface="Apple SD Gothic Neo"/>
              </a:rPr>
              <a:t>저장  </a:t>
            </a:r>
            <a:r>
              <a:rPr sz="1400" b="0" i="0">
                <a:solidFill>
                  <a:srgbClr val="1F2328"/>
                </a:solidFill>
                <a:latin typeface="Apple SD Gothic Neo"/>
                <a:ea typeface="Apple SD Gothic Neo"/>
                <a:cs typeface="Apple SD Gothic Neo"/>
              </a:rPr>
              <a:t>NPZ(학습용 배열) + JSONL.GZ(전체 상태)  →  Hugging Face 공개     </a:t>
            </a:r>
            <a:r>
              <a:rPr sz="1400" b="1" i="0">
                <a:solidFill>
                  <a:srgbClr val="0B6E4F"/>
                </a:solidFill>
                <a:latin typeface="Apple SD Gothic Neo"/>
                <a:ea typeface="Apple SD Gothic Neo"/>
                <a:cs typeface="Apple SD Gothic Neo"/>
              </a:rPr>
              <a:t>규모  </a:t>
            </a:r>
            <a:r>
              <a:rPr sz="1400" b="0" i="0">
                <a:solidFill>
                  <a:srgbClr val="1F2328"/>
                </a:solidFill>
                <a:latin typeface="Apple SD Gothic Neo"/>
                <a:ea typeface="Apple SD Gothic Neo"/>
                <a:cs typeface="Apple SD Gothic Neo"/>
              </a:rPr>
              <a:t>1,000만 개 이상, 4개 구간 병렬 수집</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